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9" autoAdjust="0"/>
    <p:restoredTop sz="94610"/>
  </p:normalViewPr>
  <p:slideViewPr>
    <p:cSldViewPr snapToGrid="0" snapToObjects="1">
      <p:cViewPr varScale="1">
        <p:scale>
          <a:sx n="118" d="100"/>
          <a:sy n="118" d="100"/>
        </p:scale>
        <p:origin x="418" y="2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413398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4846320"/>
            <a:ext cx="9144000" cy="292608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73152"/>
            <a:ext cx="109728" cy="477316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20040" y="914400"/>
            <a:ext cx="8503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GEOGRAPHY OF HAPPINESS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320040" y="178308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i="1" dirty="0">
                <a:solidFill>
                  <a:srgbClr val="02A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Mapping the Hidden Drivers of Quality of Life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320040" y="2423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Multi-Level Statistical Analysis  |  2005–2024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20040" y="4434840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Sources: General Social Survey  ·  World Development Indicators  ·  OECD Better Life Index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" y="3291840"/>
            <a:ext cx="1234440" cy="4114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A4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40080" y="3291840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T-Test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965960" y="3291840"/>
            <a:ext cx="1234440" cy="4114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A4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965960" y="3291840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Two-Way ANOVA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91840" y="3291840"/>
            <a:ext cx="1234440" cy="4114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A4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291840" y="3291840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617720" y="3291840"/>
            <a:ext cx="1234440" cy="4114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A4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617720" y="3291840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Mediation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943600" y="3291840"/>
            <a:ext cx="1234440" cy="4114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A4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943600" y="3291840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MLM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269480" y="3291840"/>
            <a:ext cx="1234440" cy="4114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A4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269480" y="3291840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 Analysis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20040" y="484632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John D. Williams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9601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28600" y="914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Overview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28600" y="59436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analytical batches · Micro to macro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686800" y="182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82880" y="4956048"/>
            <a:ext cx="8778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Geography of Happiness  |  Williams, J.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457200" y="1188720"/>
            <a:ext cx="2468880" cy="13716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57200" y="123444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457200" y="192024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91840" y="1188720"/>
            <a:ext cx="2468880" cy="13716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291840" y="123444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4400" dirty="0"/>
          </a:p>
        </p:txBody>
      </p:sp>
      <p:sp>
        <p:nvSpPr>
          <p:cNvPr id="14" name="Text 12"/>
          <p:cNvSpPr/>
          <p:nvPr/>
        </p:nvSpPr>
        <p:spPr>
          <a:xfrm>
            <a:off x="3291840" y="192024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Years of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126480" y="1188720"/>
            <a:ext cx="2468880" cy="13716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126480" y="123444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4400" dirty="0"/>
          </a:p>
        </p:txBody>
      </p:sp>
      <p:sp>
        <p:nvSpPr>
          <p:cNvPr id="17" name="Text 15"/>
          <p:cNvSpPr/>
          <p:nvPr/>
        </p:nvSpPr>
        <p:spPr>
          <a:xfrm>
            <a:off x="6126480" y="192024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65760" y="2788920"/>
            <a:ext cx="420624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365760" y="2788920"/>
            <a:ext cx="73152" cy="8229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02920" y="2788920"/>
            <a:ext cx="3977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 How do gender &amp; education shape perceptions of the American Dream?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65760" y="3749040"/>
            <a:ext cx="420624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365760" y="3749040"/>
            <a:ext cx="73152" cy="8229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02920" y="3749040"/>
            <a:ext cx="3977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 What macro-economic factors drive national life expectancy?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937760" y="2788920"/>
            <a:ext cx="420624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937760" y="2788920"/>
            <a:ext cx="73152" cy="8229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074920" y="2788920"/>
            <a:ext cx="3977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 Does income fully mediate education's effect on happiness?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937760" y="3749040"/>
            <a:ext cx="420624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4937760" y="3749040"/>
            <a:ext cx="73152" cy="8229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5074920" y="3749040"/>
            <a:ext cx="3977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 How much does geography determine life satisfaction globally?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9601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28600" y="914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1: Gender &amp; Economic Optimism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28600" y="59436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Samples T-Test  ·  GSS Data  ·  N = 28,730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686800" y="182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82880" y="4956048"/>
            <a:ext cx="8778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Geography of Happiness  |  Williams, J.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365760" y="1097280"/>
            <a:ext cx="8412480" cy="502920"/>
          </a:xfrm>
          <a:prstGeom prst="rect">
            <a:avLst/>
          </a:prstGeom>
          <a:solidFill>
            <a:srgbClr val="EBF5FB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57200" y="10972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Hypothesis: Men will report significantly higher economic optimism than women (lower GOODLIFE score = more optimistic)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1737360"/>
            <a:ext cx="3657600" cy="1920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65760" y="173736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2A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65760" y="210312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2.43</a:t>
            </a:r>
            <a:endParaRPr lang="en-US" sz="5200" dirty="0"/>
          </a:p>
        </p:txBody>
      </p:sp>
      <p:sp>
        <p:nvSpPr>
          <p:cNvPr id="14" name="Text 12"/>
          <p:cNvSpPr/>
          <p:nvPr/>
        </p:nvSpPr>
        <p:spPr>
          <a:xfrm>
            <a:off x="365760" y="27889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GOODLIFE Score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65760" y="3063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12,796  ·  SD = 1.07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65760" y="33375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2A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OPTIMISTIC →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389120" y="1737360"/>
            <a:ext cx="3657600" cy="1920240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389120" y="173736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FEMALE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389120" y="210312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876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2.58</a:t>
            </a:r>
            <a:endParaRPr lang="en-US" sz="5200" dirty="0"/>
          </a:p>
        </p:txBody>
      </p:sp>
      <p:sp>
        <p:nvSpPr>
          <p:cNvPr id="20" name="Text 18"/>
          <p:cNvSpPr/>
          <p:nvPr/>
        </p:nvSpPr>
        <p:spPr>
          <a:xfrm>
            <a:off x="4389120" y="27889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GOODLIFE Score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389120" y="3063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15,934  ·  SD = 1.10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389120" y="33375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876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OPTIMISTIC ←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65760" y="3840480"/>
            <a:ext cx="8412480" cy="5943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57200" y="38404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HYPOTHESIS SUPPORTED  ·  t(28,278) = 11.65, p &lt; .001  ·  Cohen's d = 0.14 (small but reliable effect)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9601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28600" y="914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2: Education as an Equalizer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28600" y="59436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Two-Way ANOVA  ·  Gender × Education Interaction Effect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686800" y="182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82880" y="4956048"/>
            <a:ext cx="8778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Geography of Happiness  |  Williams, J.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365760" y="1097280"/>
            <a:ext cx="8412480" cy="548640"/>
          </a:xfrm>
          <a:prstGeom prst="rect">
            <a:avLst/>
          </a:prstGeom>
          <a:solidFill>
            <a:srgbClr val="EBF5FB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57200" y="10972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Finding: The gender optimism gap significantly narrows — and nearly disappears — at the Graduate degree level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65760" y="178308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F(4, 28667) = 4.18, p = .002  →  Significant interaction: the effect of education on optimism depends on gender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914400" y="3272790"/>
            <a:ext cx="640080" cy="70485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914400" y="304419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2.45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1627632" y="3160014"/>
            <a:ext cx="640080" cy="817626"/>
          </a:xfrm>
          <a:prstGeom prst="rect">
            <a:avLst/>
          </a:prstGeom>
          <a:solidFill>
            <a:srgbClr val="E8756A"/>
          </a:solidFill>
          <a:ln w="12700">
            <a:solidFill>
              <a:srgbClr val="E875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627632" y="2931414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87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2.49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914400" y="4023360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 High Sch.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404872" y="3244596"/>
            <a:ext cx="640080" cy="73304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2404872" y="3015996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2.46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118104" y="2708910"/>
            <a:ext cx="640080" cy="1268730"/>
          </a:xfrm>
          <a:prstGeom prst="rect">
            <a:avLst/>
          </a:prstGeom>
          <a:solidFill>
            <a:srgbClr val="E8756A"/>
          </a:solidFill>
          <a:ln w="12700">
            <a:solidFill>
              <a:srgbClr val="E875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118104" y="248031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87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2.65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404872" y="4023360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School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895344" y="3188208"/>
            <a:ext cx="640080" cy="78943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895344" y="2959608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2.48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608576" y="2765298"/>
            <a:ext cx="640080" cy="1212342"/>
          </a:xfrm>
          <a:prstGeom prst="rect">
            <a:avLst/>
          </a:prstGeom>
          <a:solidFill>
            <a:srgbClr val="E8756A"/>
          </a:solidFill>
          <a:ln w="12700">
            <a:solidFill>
              <a:srgbClr val="E875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608576" y="2536698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87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2.63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895344" y="4023360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Jr. College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385816" y="3526536"/>
            <a:ext cx="640080" cy="45110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5385816" y="3297936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2.36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099048" y="3103626"/>
            <a:ext cx="640080" cy="874014"/>
          </a:xfrm>
          <a:prstGeom prst="rect">
            <a:avLst/>
          </a:prstGeom>
          <a:solidFill>
            <a:srgbClr val="E8756A"/>
          </a:solidFill>
          <a:ln w="12700">
            <a:solidFill>
              <a:srgbClr val="E875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6099048" y="2875026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87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2.51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385816" y="4023360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Bachelor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876288" y="3639312"/>
            <a:ext cx="640080" cy="33832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6876288" y="3410712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2.32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7589520" y="3075432"/>
            <a:ext cx="640080" cy="902208"/>
          </a:xfrm>
          <a:prstGeom prst="rect">
            <a:avLst/>
          </a:prstGeom>
          <a:solidFill>
            <a:srgbClr val="E8756A"/>
          </a:solidFill>
          <a:ln w="12700">
            <a:solidFill>
              <a:srgbClr val="E875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7589520" y="2846832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87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2.52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876288" y="4023360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Graduate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57200" y="3977640"/>
            <a:ext cx="8229600" cy="0"/>
          </a:xfrm>
          <a:prstGeom prst="line">
            <a:avLst/>
          </a:prstGeom>
          <a:noFill/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457200" y="2331720"/>
            <a:ext cx="228600" cy="16459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731520" y="230428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Male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1463040" y="2331720"/>
            <a:ext cx="228600" cy="164592"/>
          </a:xfrm>
          <a:prstGeom prst="rect">
            <a:avLst/>
          </a:prstGeom>
          <a:solidFill>
            <a:srgbClr val="E8756A"/>
          </a:solidFill>
          <a:ln w="12700">
            <a:solidFill>
              <a:srgbClr val="E875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1737360" y="230428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Female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3017520" y="230428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(Lower score = more optimistic)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9601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28600" y="914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3: Macro-Economic Drivers of Life Expectancy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28600" y="59436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Linear Regression  ·  World Development Indicators  ·  R² = 0.73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686800" y="182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82880" y="4956048"/>
            <a:ext cx="8778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Geography of Happiness  |  Williams, J.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6675120" y="1143000"/>
            <a:ext cx="2103120" cy="14630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675120" y="114300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675120" y="155448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73%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6675120" y="21488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variance explained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65760" y="1143000"/>
            <a:ext cx="6126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Coefficient (B) — standardized relative bar width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1508760"/>
            <a:ext cx="5943600" cy="64008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65760" y="1508760"/>
            <a:ext cx="5349240" cy="6400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57200" y="150876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log(GDP per Capita)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" y="1508760"/>
            <a:ext cx="5760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= 4.21   p &lt; .001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2514600"/>
            <a:ext cx="5943600" cy="64008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365760" y="2514600"/>
            <a:ext cx="2377440" cy="640080"/>
          </a:xfrm>
          <a:prstGeom prst="rect">
            <a:avLst/>
          </a:prstGeom>
          <a:solidFill>
            <a:srgbClr val="5B8DB8"/>
          </a:solidFill>
          <a:ln w="12700">
            <a:solidFill>
              <a:srgbClr val="5B8D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57200" y="251460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Spending (% GDP)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7200" y="2514600"/>
            <a:ext cx="5760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= 0.15   p &lt; .001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3520440"/>
            <a:ext cx="5943600" cy="64008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365760" y="3520440"/>
            <a:ext cx="1664208" cy="640080"/>
          </a:xfrm>
          <a:prstGeom prst="rect">
            <a:avLst/>
          </a:prstGeom>
          <a:solidFill>
            <a:srgbClr val="74B49B"/>
          </a:solidFill>
          <a:ln w="12700">
            <a:solidFill>
              <a:srgbClr val="74B49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57200" y="352044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 Enrollment Rate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57200" y="3520440"/>
            <a:ext cx="5760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= 0.08   p &lt; .001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65760" y="452628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Takeaway: Economic growth alone is not sufficient — targeted healthcare investment yields a unique, incremental life expectancy benefit.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9601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28600" y="914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4: Income as the Bridge to Happiness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28600" y="59436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Causal Mediation Analysis  ·  Education → Income → Happiness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686800" y="182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82880" y="4956048"/>
            <a:ext cx="8778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Geography of Happiness  |  Williams, J.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3474720" y="1097280"/>
            <a:ext cx="2194560" cy="91440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474720" y="109728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99.4%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3474720" y="16459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effect via Income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2423160"/>
            <a:ext cx="2011680" cy="8229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57200" y="242316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(X)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566160" y="2011680"/>
            <a:ext cx="2011680" cy="8229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566160" y="201168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Income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(Mediator)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675120" y="2423160"/>
            <a:ext cx="2011680" cy="8229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675120" y="242316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Happiness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(Y)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2468880" y="2423160"/>
            <a:ext cx="1097280" cy="0"/>
          </a:xfrm>
          <a:prstGeom prst="line">
            <a:avLst/>
          </a:prstGeom>
          <a:noFill/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2468880" y="16916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A ✔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577840" y="2423160"/>
            <a:ext cx="1097280" cy="411480"/>
          </a:xfrm>
          <a:prstGeom prst="line">
            <a:avLst/>
          </a:prstGeom>
          <a:noFill/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577840" y="17373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B ✔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468880" y="2834640"/>
            <a:ext cx="4206240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200400" y="28803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Effect c' = 0.00 (ns)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200400" y="32918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Indirect (ACME) = 0.034***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65760" y="3794760"/>
            <a:ext cx="8412480" cy="6858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57200" y="379476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Insight: Education boosts happiness almost entirely by increasing income — not through intangible benefits like social status alone. Economic security is the engine.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9601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28600" y="914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5: Geography &amp; Social Capital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28600" y="59436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Multilevel Modeling (MLM)  ·  OECD Better Life Index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686800" y="182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82880" y="4956048"/>
            <a:ext cx="8778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Geography of Happiness  |  Williams, J.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365760" y="1143000"/>
            <a:ext cx="2286000" cy="14630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65760" y="114300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ICC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65760" y="155448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31.1%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365760" y="21488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explained by region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926080" y="1143000"/>
            <a:ext cx="5852160" cy="640080"/>
          </a:xfrm>
          <a:prstGeom prst="rect">
            <a:avLst/>
          </a:prstGeom>
          <a:solidFill>
            <a:srgbClr val="EBF5FB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017520" y="1143000"/>
            <a:ext cx="5669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Effect — Social Support:  β = 0.054  ·  t = 4.75  ·  p &lt; .001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926080" y="187452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every 1% rise in social support, life satisfaction increases by ~0.05 points — regardless of region.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2377440"/>
            <a:ext cx="8412480" cy="3657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57200" y="23774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486400" y="23774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 Satisfaction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132320" y="23774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Support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2788920"/>
            <a:ext cx="841248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365760" y="2788920"/>
            <a:ext cx="109728" cy="38404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48640" y="2788920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 America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486400" y="278892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7.00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132320" y="278892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92.5%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65760" y="3172968"/>
            <a:ext cx="8412480" cy="38404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365760" y="3172968"/>
            <a:ext cx="109728" cy="384048"/>
          </a:xfrm>
          <a:prstGeom prst="rect">
            <a:avLst/>
          </a:prstGeom>
          <a:solidFill>
            <a:srgbClr val="5B8DB8"/>
          </a:solidFill>
          <a:ln w="12700">
            <a:solidFill>
              <a:srgbClr val="5B8D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48640" y="3172968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Latin America &amp; Caribbean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486400" y="3172968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B8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6.40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7132320" y="3172968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93.5%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65760" y="3557016"/>
            <a:ext cx="841248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365760" y="3557016"/>
            <a:ext cx="109728" cy="384048"/>
          </a:xfrm>
          <a:prstGeom prst="rect">
            <a:avLst/>
          </a:prstGeom>
          <a:solidFill>
            <a:srgbClr val="74B49B"/>
          </a:solidFill>
          <a:ln w="12700">
            <a:solidFill>
              <a:srgbClr val="74B49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548640" y="3557016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Europe &amp; Central Asia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486400" y="3557016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74B4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6.30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7132320" y="3557016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90.8%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365760" y="3941064"/>
            <a:ext cx="8412480" cy="38404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365760" y="3941064"/>
            <a:ext cx="109728" cy="384048"/>
          </a:xfrm>
          <a:prstGeom prst="rect">
            <a:avLst/>
          </a:prstGeom>
          <a:solidFill>
            <a:srgbClr val="A8C8A0"/>
          </a:solidFill>
          <a:ln w="12700">
            <a:solidFill>
              <a:srgbClr val="A8C8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548640" y="3941064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East Asia &amp; Pacific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486400" y="3941064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A8C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6.20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7132320" y="3941064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91.1%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365760" y="4325112"/>
            <a:ext cx="841248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365760" y="4325112"/>
            <a:ext cx="109728" cy="384048"/>
          </a:xfrm>
          <a:prstGeom prst="rect">
            <a:avLst/>
          </a:prstGeom>
          <a:solidFill>
            <a:srgbClr val="E8756A"/>
          </a:solidFill>
          <a:ln w="12700">
            <a:solidFill>
              <a:srgbClr val="E875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548640" y="4325112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Sub-Saharan Africa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5486400" y="4325112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87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4.90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7132320" y="4325112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75.0%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9601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28600" y="914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6: The Quality of Life Factor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28600" y="59436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Factor Analysis  ·  OECD Better Life Index  ·  KMO = 0.74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686800" y="182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82880" y="4956048"/>
            <a:ext cx="8778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Geography of Happiness  |  Williams, J.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365760" y="109728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latent factor explains 42.2% of all variance across five national well-being indicators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65760" y="160020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 Satisfaction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560320" y="1673352"/>
            <a:ext cx="5029200" cy="34747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560320" y="1673352"/>
            <a:ext cx="4224528" cy="34747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606040" y="1673352"/>
            <a:ext cx="4224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λ = 0.84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680960" y="160020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Excellent — Primary Anchor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65760" y="219456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Support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560320" y="2267712"/>
            <a:ext cx="5029200" cy="34747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2560320" y="2267712"/>
            <a:ext cx="3621024" cy="347472"/>
          </a:xfrm>
          <a:prstGeom prst="rect">
            <a:avLst/>
          </a:prstGeom>
          <a:solidFill>
            <a:srgbClr val="02A4B0"/>
          </a:solidFill>
          <a:ln w="12700">
            <a:solidFill>
              <a:srgbClr val="02A4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2606040" y="2267712"/>
            <a:ext cx="36210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λ = 0.72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680960" y="219456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Excellent — Secondary Anchor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65760" y="278892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Employment Rate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60320" y="2862072"/>
            <a:ext cx="5029200" cy="34747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2560320" y="2862072"/>
            <a:ext cx="2916936" cy="347472"/>
          </a:xfrm>
          <a:prstGeom prst="rect">
            <a:avLst/>
          </a:prstGeom>
          <a:solidFill>
            <a:srgbClr val="5B8DB8"/>
          </a:solidFill>
          <a:ln w="12700">
            <a:solidFill>
              <a:srgbClr val="5B8D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2606040" y="2862072"/>
            <a:ext cx="29169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λ = 0.58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680960" y="278892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65760" y="338328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 per Capita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2560320" y="3456432"/>
            <a:ext cx="5029200" cy="34747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2560320" y="3456432"/>
            <a:ext cx="2564892" cy="347472"/>
          </a:xfrm>
          <a:prstGeom prst="rect">
            <a:avLst/>
          </a:prstGeom>
          <a:solidFill>
            <a:srgbClr val="74B49B"/>
          </a:solidFill>
          <a:ln w="12700">
            <a:solidFill>
              <a:srgbClr val="74B49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2606040" y="3456432"/>
            <a:ext cx="25648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λ = 0.51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680960" y="338328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65760" y="397764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Housing Affordability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2560320" y="4050792"/>
            <a:ext cx="5029200" cy="34747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2560320" y="4050792"/>
            <a:ext cx="1911096" cy="347472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2606040" y="4050792"/>
            <a:ext cx="19110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λ = 0.38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7680960" y="397764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 — Weakest Link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5074920" y="1581912"/>
            <a:ext cx="0" cy="2971800"/>
          </a:xfrm>
          <a:prstGeom prst="line">
            <a:avLst/>
          </a:prstGeom>
          <a:noFill/>
          <a:ln w="12700">
            <a:solidFill>
              <a:srgbClr val="E8A838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5120640" y="1581912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0.50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365760" y="4572000"/>
            <a:ext cx="8412480" cy="34747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457200" y="457200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Wealth, employment, and social capital are mathematically intertwined — they are all symptoms of one underlying 'Quality of Life' engine.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9601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28600" y="914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Implications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28600" y="59436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data to action — the case for Well-Being Budgeting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686800" y="182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82880" y="4956048"/>
            <a:ext cx="8778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Geography of Happiness  |  Williams, J.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320040" y="1143000"/>
            <a:ext cx="393192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20040" y="1143000"/>
            <a:ext cx="3931920" cy="4572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11480" y="114300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Invest in Social Infrastructure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29768" y="1645920"/>
            <a:ext cx="3703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support is the most powerful non-economic predictor of happiness (β = 0.054, p&lt;.001). Programs that build community trust yield outsized returns on well-being.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617720" y="1143000"/>
            <a:ext cx="393192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617720" y="1143000"/>
            <a:ext cx="3931920" cy="4572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709160" y="114300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Target Healthcare Spending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727448" y="1645920"/>
            <a:ext cx="3703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investment provides a unique life expectancy benefit beyond economic growth (B = 0.15). Economic development alone does not substitute for direct health programs.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0040" y="3017520"/>
            <a:ext cx="393192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320040" y="3017520"/>
            <a:ext cx="3931920" cy="457200"/>
          </a:xfrm>
          <a:prstGeom prst="rect">
            <a:avLst/>
          </a:prstGeom>
          <a:solidFill>
            <a:srgbClr val="5B8DB8"/>
          </a:solidFill>
          <a:ln w="12700">
            <a:solidFill>
              <a:srgbClr val="5B8D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11480" y="301752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Expand Educational Access for Women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29768" y="3520440"/>
            <a:ext cx="3703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Graduate education closes the gender optimism gap. Reducing structural barriers to advanced degrees narrows systemic inequities in perceived mobility.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617720" y="3017520"/>
            <a:ext cx="393192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617720" y="3017520"/>
            <a:ext cx="3931920" cy="45720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709160" y="301752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Adopt Holistic Policy Design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727448" y="3520440"/>
            <a:ext cx="3703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QoL dimensions are mathematically intertwined (Batch 6), siloed GDP-only policies are inefficient. Improvements in social capital yield dividends across all indicators.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73152"/>
            <a:ext cx="109728" cy="507034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74320" y="22860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274320" y="822960"/>
            <a:ext cx="8503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Well-being is a nested phenomenon — shaped by education, income, social support, and regional context working together.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274320" y="1673352"/>
            <a:ext cx="292608" cy="2926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74320" y="16733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58368" y="160020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 shapes optimism, but Graduate education closes the gap (Batches 1–2)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4320" y="2240280"/>
            <a:ext cx="292608" cy="2926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74320" y="22402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58368" y="2167128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wealth, education, and healthcare all independently drive life expectancy (Batch 3)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" y="2807208"/>
            <a:ext cx="292608" cy="2926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74320" y="28072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58368" y="2734056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 fully mediates the education → happiness relationship — 99.4% of the effect (Batch 4)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74320" y="3374136"/>
            <a:ext cx="292608" cy="2926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274320" y="33741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58368" y="3300984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31% of global happiness variance is explained by regional geography alone (Batch 5)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74320" y="3941064"/>
            <a:ext cx="292608" cy="2926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274320" y="394106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58368" y="386791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QoL is a single latent engine: life satisfaction, social support, employment, and GDP all co-load (Batch 6)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0" y="4754880"/>
            <a:ext cx="9144000" cy="38404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274320" y="4754880"/>
            <a:ext cx="8595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Recommendation: Adopt 'Well-Being Budgeting' — invest holistically in social programs, education, and healthcare together.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1021</Words>
  <Application>Microsoft Office PowerPoint</Application>
  <PresentationFormat>On-screen Show (16:9)</PresentationFormat>
  <Paragraphs>185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Geography of Happiness</dc:title>
  <dc:subject>PptxGenJS Presentation</dc:subject>
  <dc:creator>PptxGenJS</dc:creator>
  <cp:lastModifiedBy>John Williams</cp:lastModifiedBy>
  <cp:revision>2</cp:revision>
  <dcterms:created xsi:type="dcterms:W3CDTF">2026-04-05T00:40:37Z</dcterms:created>
  <dcterms:modified xsi:type="dcterms:W3CDTF">2026-04-05T00:50:19Z</dcterms:modified>
</cp:coreProperties>
</file>