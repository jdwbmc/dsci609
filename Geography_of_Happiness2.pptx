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10"/>
  </p:normalViewPr>
  <p:slideViewPr>
    <p:cSldViewPr snapToGrid="0" snapToObjects="1">
      <p:cViewPr>
        <p:scale>
          <a:sx n="111" d="100"/>
          <a:sy n="111" d="100"/>
        </p:scale>
        <p:origin x="622" y="2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1339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Good [morning / afternoon / evening]. My name is John Williams, and today I want to talk to you about something that affects every person in this room — and every person on the planet.</a:t>
            </a:r>
          </a:p>
          <a:p>
            <a:r>
              <a:rPr lang="en-US" sz="2000" kern="1200" dirty="0">
                <a:solidFill>
                  <a:schemeClr val="tx1"/>
                </a:solidFill>
                <a:effectLst/>
                <a:latin typeface="+mn-lt"/>
                <a:ea typeface="+mn-ea"/>
                <a:cs typeface="+mn-cs"/>
              </a:rPr>
              <a:t>What makes life good?</a:t>
            </a:r>
          </a:p>
          <a:p>
            <a:r>
              <a:rPr lang="en-US" sz="2000" kern="1200" dirty="0">
                <a:solidFill>
                  <a:schemeClr val="tx1"/>
                </a:solidFill>
                <a:effectLst/>
                <a:latin typeface="+mn-lt"/>
                <a:ea typeface="+mn-ea"/>
                <a:cs typeface="+mn-cs"/>
              </a:rPr>
              <a:t>That question sounds simple, but the answer turns out to be surprisingly complex — and surprisingly measurable. Over the last two decades, researchers have accumulated enormous datasets tracking happiness, health, income, education, and social connection across hundreds of countries and millions of people. And what they have found does not always match our intuitions.</a:t>
            </a:r>
          </a:p>
          <a:p>
            <a:r>
              <a:rPr lang="en-US" sz="2000" kern="1200" dirty="0">
                <a:solidFill>
                  <a:schemeClr val="tx1"/>
                </a:solidFill>
                <a:effectLst/>
                <a:latin typeface="+mn-lt"/>
                <a:ea typeface="+mn-ea"/>
                <a:cs typeface="+mn-cs"/>
              </a:rPr>
              <a:t>This presentation is the result of a six-batch statistical analysis drawing on three major data sources: the General Social Survey, which captures individual attitudes in the United States; the World Bank's World Development Indicators, which tracks national economic and health outcomes globally; and the OECD Better Life Index, which measures quality of life across developed nations.</a:t>
            </a:r>
          </a:p>
          <a:p>
            <a:r>
              <a:rPr lang="en-US" sz="2000" kern="1200" dirty="0">
                <a:solidFill>
                  <a:schemeClr val="tx1"/>
                </a:solidFill>
                <a:effectLst/>
                <a:latin typeface="+mn-lt"/>
                <a:ea typeface="+mn-ea"/>
                <a:cs typeface="+mn-cs"/>
              </a:rPr>
              <a:t>Together, these datasets cover twenty years of data and six different statistical methods — from a simple t-test to multilevel modeling and exploratory factor analysis. We move from the individual level all the way up to the global level, asking at each stage: what are the hidden structures that drive well-being?</a:t>
            </a:r>
          </a:p>
          <a:p>
            <a:r>
              <a:rPr lang="en-US" sz="2000" kern="1200" dirty="0">
                <a:solidFill>
                  <a:schemeClr val="tx1"/>
                </a:solidFill>
                <a:effectLst/>
                <a:latin typeface="+mn-lt"/>
                <a:ea typeface="+mn-ea"/>
                <a:cs typeface="+mn-cs"/>
              </a:rPr>
              <a:t>Let's begin.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2000" kern="1200" dirty="0">
              <a:solidFill>
                <a:schemeClr val="tx1"/>
              </a:solidFill>
              <a:effectLst/>
              <a:latin typeface="+mn-lt"/>
              <a:ea typeface="+mn-ea"/>
              <a:cs typeface="+mn-cs"/>
            </a:endParaRPr>
          </a:p>
          <a:p>
            <a:r>
              <a:rPr lang="en-US" sz="2000" kern="1200" dirty="0">
                <a:solidFill>
                  <a:schemeClr val="tx1"/>
                </a:solidFill>
                <a:effectLst/>
                <a:latin typeface="+mn-lt"/>
                <a:ea typeface="+mn-ea"/>
                <a:cs typeface="+mn-cs"/>
              </a:rPr>
              <a:t>Before we dive into the findings, let me orient you to the structure of this analysis. We ran six analytical batches, each with its own research question, its own dataset, and its own statistical method.</a:t>
            </a:r>
          </a:p>
          <a:p>
            <a:r>
              <a:rPr lang="en-US" sz="2000" kern="1200" dirty="0">
                <a:solidFill>
                  <a:schemeClr val="tx1"/>
                </a:solidFill>
                <a:effectLst/>
                <a:latin typeface="+mn-lt"/>
                <a:ea typeface="+mn-ea"/>
                <a:cs typeface="+mn-cs"/>
              </a:rPr>
              <a:t>The first two batches focus on the individual level, using General Social Survey data to ask: how do gender and education shape a person's economic optimism — their belief in the American Dream?</a:t>
            </a:r>
          </a:p>
          <a:p>
            <a:r>
              <a:rPr lang="en-US" sz="2000" kern="1200" dirty="0">
                <a:solidFill>
                  <a:schemeClr val="tx1"/>
                </a:solidFill>
                <a:effectLst/>
                <a:latin typeface="+mn-lt"/>
                <a:ea typeface="+mn-ea"/>
                <a:cs typeface="+mn-cs"/>
              </a:rPr>
              <a:t>Batches three and four shift to the national level. Batch three uses World Bank data to ask what macro-economic factors drive life expectancy across countries. Batch four returns to the individual level to ask a more precise question: does income actually explain why education leads to greater happiness?</a:t>
            </a:r>
          </a:p>
          <a:p>
            <a:r>
              <a:rPr lang="en-US" sz="2000" kern="1200" dirty="0">
                <a:solidFill>
                  <a:schemeClr val="tx1"/>
                </a:solidFill>
                <a:effectLst/>
                <a:latin typeface="+mn-lt"/>
                <a:ea typeface="+mn-ea"/>
                <a:cs typeface="+mn-cs"/>
              </a:rPr>
              <a:t>And batches five and six zoom all the way out to the global level — using the OECD Better Life Index to ask how much of your life satisfaction is simply determined by where in the world you happen to live, and whether all of these different indicators of well-being ultimately reduce to a single underlying construct.</a:t>
            </a:r>
          </a:p>
          <a:p>
            <a:r>
              <a:rPr lang="en-US" sz="2000" kern="1200" dirty="0">
                <a:solidFill>
                  <a:schemeClr val="tx1"/>
                </a:solidFill>
                <a:effectLst/>
                <a:latin typeface="+mn-lt"/>
                <a:ea typeface="+mn-ea"/>
                <a:cs typeface="+mn-cs"/>
              </a:rPr>
              <a:t>Six methods. Six questions. One overarching story. Let's tell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start with a foundational question: does gender influence a person's economic optimism?</a:t>
            </a:r>
          </a:p>
          <a:p>
            <a:r>
              <a:rPr lang="en-US" sz="1200" kern="1200" dirty="0">
                <a:solidFill>
                  <a:schemeClr val="tx1"/>
                </a:solidFill>
                <a:effectLst/>
                <a:latin typeface="+mn-lt"/>
                <a:ea typeface="+mn-ea"/>
                <a:cs typeface="+mn-cs"/>
              </a:rPr>
              <a:t>To measure optimism, we used the GOODLIFE variable from the General Social Survey. Respondents were asked whether they expect their standard of living to be much better, somewhat better, about the same, somewhat worse, or much worse than their parents'. Crucially — and this is important for reading the chart — a lower score means higher optimism. A score of 1 means the person strongly believes their life will be better. A score of 5 means they believe it will be worse.</a:t>
            </a:r>
          </a:p>
          <a:p>
            <a:r>
              <a:rPr lang="en-US" sz="1200" kern="1200" dirty="0">
                <a:solidFill>
                  <a:schemeClr val="tx1"/>
                </a:solidFill>
                <a:effectLst/>
                <a:latin typeface="+mn-lt"/>
                <a:ea typeface="+mn-ea"/>
                <a:cs typeface="+mn-cs"/>
              </a:rPr>
              <a:t>Our hypothesis was straightforward: men will report significantly higher optimism than women.</a:t>
            </a:r>
          </a:p>
          <a:p>
            <a:r>
              <a:rPr lang="en-US" sz="1200" kern="1200" dirty="0">
                <a:solidFill>
                  <a:schemeClr val="tx1"/>
                </a:solidFill>
                <a:effectLst/>
                <a:latin typeface="+mn-lt"/>
                <a:ea typeface="+mn-ea"/>
                <a:cs typeface="+mn-cs"/>
              </a:rPr>
              <a:t>The results confirmed it. With a sample of over 28,000 respondents, men scored a mean of 2.43 and women scored 2.58. That gap of 0.15 points was highly statistically significant — t(28,278) = 11.65, p less than .001.</a:t>
            </a:r>
          </a:p>
          <a:p>
            <a:r>
              <a:rPr lang="en-US" sz="1200" kern="1200" dirty="0">
                <a:solidFill>
                  <a:schemeClr val="tx1"/>
                </a:solidFill>
                <a:effectLst/>
                <a:latin typeface="+mn-lt"/>
                <a:ea typeface="+mn-ea"/>
                <a:cs typeface="+mn-cs"/>
              </a:rPr>
              <a:t>Now, an effect size of Cohen's d = 0.14 is classified as small. But small does not mean unimportant. When you replicate a finding in a nationally representative sample of 28,000 people with a p-value that small, you are looking at a real, stable, sociological pattern. Men in the United States consistently report greater confidence in their economic future than women do.</a:t>
            </a:r>
          </a:p>
          <a:p>
            <a:r>
              <a:rPr lang="en-US" sz="1200" kern="1200" dirty="0">
                <a:solidFill>
                  <a:schemeClr val="tx1"/>
                </a:solidFill>
                <a:effectLst/>
                <a:latin typeface="+mn-lt"/>
                <a:ea typeface="+mn-ea"/>
                <a:cs typeface="+mn-cs"/>
              </a:rPr>
              <a:t>The question Batch 2 then asks is: does education change that picture?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In Batch 1 we confirmed a gender gap in economic optimism. The natural follow-up is whether education closes it. To test this, we ran a Two-Way ANOVA, which allows us to examine two independent variables simultaneously — gender and education level — and most importantly, to test for an interaction effect. An interaction means the relationship between education and optimism is not the same for men and women.</a:t>
            </a:r>
          </a:p>
          <a:p>
            <a:r>
              <a:rPr lang="en-US" sz="2000" kern="1200" dirty="0">
                <a:solidFill>
                  <a:schemeClr val="tx1"/>
                </a:solidFill>
                <a:effectLst/>
                <a:latin typeface="+mn-lt"/>
                <a:ea typeface="+mn-ea"/>
                <a:cs typeface="+mn-cs"/>
              </a:rPr>
              <a:t>The interaction effect was statistically significant: F(4, 28,667) = 4.18, p = .002. That is our headline finding. Education and gender do interact — the effect of a degree depends on whether you are male or female.</a:t>
            </a:r>
          </a:p>
          <a:p>
            <a:r>
              <a:rPr lang="en-US" sz="2000" kern="1200" dirty="0">
                <a:solidFill>
                  <a:schemeClr val="tx1"/>
                </a:solidFill>
                <a:effectLst/>
                <a:latin typeface="+mn-lt"/>
                <a:ea typeface="+mn-ea"/>
                <a:cs typeface="+mn-cs"/>
              </a:rPr>
              <a:t>Now look at the chart. At the lowest education tier — less than high school — the two bars are nearly identical. Men score 2.46, women score 2.49. The gap is just 0.04 points. At this level, men and women see their economic futures almost the same way.</a:t>
            </a:r>
          </a:p>
          <a:p>
            <a:r>
              <a:rPr lang="en-US" sz="2000" kern="1200" dirty="0">
                <a:solidFill>
                  <a:schemeClr val="tx1"/>
                </a:solidFill>
                <a:effectLst/>
                <a:latin typeface="+mn-lt"/>
                <a:ea typeface="+mn-ea"/>
                <a:cs typeface="+mn-cs"/>
              </a:rPr>
              <a:t>But as education increases, something unexpected happens. The female bars rise — meaning women become less optimistic — while the male bars hold relatively steady or even decline. By Junior College, the gap has widened to 0.22. It then stabilizes through Bachelor's and Graduate levels, where men sit at 2.32 and women at 2.52 — a persistent gap of 0.20.</a:t>
            </a:r>
          </a:p>
          <a:p>
            <a:r>
              <a:rPr lang="en-US" sz="2000" kern="1200" dirty="0">
                <a:solidFill>
                  <a:schemeClr val="tx1"/>
                </a:solidFill>
                <a:effectLst/>
                <a:latin typeface="+mn-lt"/>
                <a:ea typeface="+mn-ea"/>
                <a:cs typeface="+mn-cs"/>
              </a:rPr>
              <a:t>This is a counterintuitive finding. Many theories predict that higher education acts as an equalizer — that advanced degrees narrow structural inequities. Our data says otherwise. Rather than closing the gap, education is associated with its widening. The most likely explanation is that highly educated women become more acutely aware of the structural barriers they face — the glass ceiling, the gender pay gap, the unequal distribution of professional advancement — and that awareness tempers their optimism in ways it does not for men.</a:t>
            </a:r>
          </a:p>
          <a:p>
            <a:r>
              <a:rPr lang="en-US" sz="2000" kern="1200" dirty="0">
                <a:solidFill>
                  <a:schemeClr val="tx1"/>
                </a:solidFill>
                <a:effectLst/>
                <a:latin typeface="+mn-lt"/>
                <a:ea typeface="+mn-ea"/>
                <a:cs typeface="+mn-cs"/>
              </a:rPr>
              <a:t>Education is necessary. But for women, it is not sufficient to overcome the structural inequalities of the labor market.</a:t>
            </a:r>
          </a:p>
          <a:p>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We now shift from individual perceptions to objective national outcomes. The question in Batch 3 is: what makes nations healthy? Specifically, which macro-economic factors best predict how long a country's citizens will live?</a:t>
            </a:r>
          </a:p>
          <a:p>
            <a:r>
              <a:rPr lang="en-US" sz="2000" kern="1200" dirty="0">
                <a:solidFill>
                  <a:schemeClr val="tx1"/>
                </a:solidFill>
                <a:effectLst/>
                <a:latin typeface="+mn-lt"/>
                <a:ea typeface="+mn-ea"/>
                <a:cs typeface="+mn-cs"/>
              </a:rPr>
              <a:t>We used World Bank data covering over 2,400 country-year observations and ran a multiple linear regression with three predictors: GDP per capita — log-transformed to account for diminishing returns — healthcare expenditure as a share of GDP, and secondary education enrollment rate.</a:t>
            </a:r>
          </a:p>
          <a:p>
            <a:r>
              <a:rPr lang="en-US" sz="2000" kern="1200" dirty="0">
                <a:solidFill>
                  <a:schemeClr val="tx1"/>
                </a:solidFill>
                <a:effectLst/>
                <a:latin typeface="+mn-lt"/>
                <a:ea typeface="+mn-ea"/>
                <a:cs typeface="+mn-cs"/>
              </a:rPr>
              <a:t>The model fit is exceptional. R-squared equals .73, meaning our three predictors together explain 73 percent of the global variance in life expectancy. The overall F-statistic is 2,217 with a p-value below .001.</a:t>
            </a:r>
          </a:p>
          <a:p>
            <a:r>
              <a:rPr lang="en-US" sz="2000" kern="1200" dirty="0">
                <a:solidFill>
                  <a:schemeClr val="tx1"/>
                </a:solidFill>
                <a:effectLst/>
                <a:latin typeface="+mn-lt"/>
                <a:ea typeface="+mn-ea"/>
                <a:cs typeface="+mn-cs"/>
              </a:rPr>
              <a:t>All three predictors are significant. Log GDP per capita is the strongest, with a coefficient of 4.21 — for every one-unit increase in log GDP, life expectancy rises by over four years. Education enrollment carries a coefficient of 0.08, and healthcare spending carries a coefficient of 0.15.</a:t>
            </a:r>
          </a:p>
          <a:p>
            <a:r>
              <a:rPr lang="en-US" sz="2000" kern="1200" dirty="0">
                <a:solidFill>
                  <a:schemeClr val="tx1"/>
                </a:solidFill>
                <a:effectLst/>
                <a:latin typeface="+mn-lt"/>
                <a:ea typeface="+mn-ea"/>
                <a:cs typeface="+mn-cs"/>
              </a:rPr>
              <a:t>That healthcare spending coefficient is worth dwelling on. Even after controlling for how wealthy a country is and how educated its population is, direct investment in health programs still independently increases life expectancy. This is the key policy finding of Batch 3: economic growth alone is not a substitute for targeted healthcare spending. Nations that grow rich but fail to invest in health infrastructure leave years of life on the table.</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Batch 4 returns to the individual level with the most precise question in the entire portfolio: does education make people happy directly, or does it work primarily by increasing income, which then increases happiness?</a:t>
            </a:r>
          </a:p>
          <a:p>
            <a:r>
              <a:rPr lang="en-US" sz="2000" kern="1200" dirty="0">
                <a:solidFill>
                  <a:schemeClr val="tx1"/>
                </a:solidFill>
                <a:effectLst/>
                <a:latin typeface="+mn-lt"/>
                <a:ea typeface="+mn-ea"/>
                <a:cs typeface="+mn-cs"/>
              </a:rPr>
              <a:t>We used causal mediation analysis on GSS data to decompose the total effect of education on happiness into two parts: the indirect effect — the portion that flows through income — and the direct effect — the portion that operates through other channels like social status or cognitive enrichment.</a:t>
            </a:r>
          </a:p>
          <a:p>
            <a:r>
              <a:rPr lang="en-US" sz="2000" kern="1200" dirty="0">
                <a:solidFill>
                  <a:schemeClr val="tx1"/>
                </a:solidFill>
                <a:effectLst/>
                <a:latin typeface="+mn-lt"/>
                <a:ea typeface="+mn-ea"/>
                <a:cs typeface="+mn-cs"/>
              </a:rPr>
              <a:t>The results were more definitive than we anticipated. The total effect of education on happiness is significant: c = 0.034, p less than .001. But when we add income into the model, the direct effect of education drops to essentially zero — c-prime = 0.00, p = .94. Not significant. Education has no independent effect on happiness once income is accounted for.</a:t>
            </a:r>
          </a:p>
          <a:p>
            <a:r>
              <a:rPr lang="en-US" sz="2000" kern="1200" dirty="0">
                <a:solidFill>
                  <a:schemeClr val="tx1"/>
                </a:solidFill>
                <a:effectLst/>
                <a:latin typeface="+mn-lt"/>
                <a:ea typeface="+mn-ea"/>
                <a:cs typeface="+mn-cs"/>
              </a:rPr>
              <a:t>Income mediates 99.4 percent of the relationship.</a:t>
            </a:r>
          </a:p>
          <a:p>
            <a:r>
              <a:rPr lang="en-US" sz="2000" kern="1200" dirty="0">
                <a:solidFill>
                  <a:schemeClr val="tx1"/>
                </a:solidFill>
                <a:effectLst/>
                <a:latin typeface="+mn-lt"/>
                <a:ea typeface="+mn-ea"/>
                <a:cs typeface="+mn-cs"/>
              </a:rPr>
              <a:t>What does this mean practically? It means that when a degree improves someone's happiness, it is almost entirely because that degree led to a better-paying job, which provided economic security, which reduced financial stress, which increased subjective well-being. The intangible benefits of education — the broadened perspective, the social networks, the intellectual growth — do not appear to independently move the needle on happiness in any statistically detectable way in this sample.</a:t>
            </a:r>
          </a:p>
          <a:p>
            <a:r>
              <a:rPr lang="en-US" sz="2000" kern="1200" dirty="0">
                <a:solidFill>
                  <a:schemeClr val="tx1"/>
                </a:solidFill>
                <a:effectLst/>
                <a:latin typeface="+mn-lt"/>
                <a:ea typeface="+mn-ea"/>
                <a:cs typeface="+mn-cs"/>
              </a:rPr>
              <a:t>Economic security is the engine. A diploma is the key that starts it.</a:t>
            </a:r>
          </a:p>
          <a:p>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Batch 5 asks a question that most individual-level analyses simply ignore: how much does where you live matter for your happiness, independent of anything about you personally?</a:t>
            </a:r>
          </a:p>
          <a:p>
            <a:r>
              <a:rPr lang="en-US" sz="2000" kern="1200" dirty="0">
                <a:solidFill>
                  <a:schemeClr val="tx1"/>
                </a:solidFill>
                <a:effectLst/>
                <a:latin typeface="+mn-lt"/>
                <a:ea typeface="+mn-ea"/>
                <a:cs typeface="+mn-cs"/>
              </a:rPr>
              <a:t>To answer this, we used multilevel modeling on OECD Better Life Index data, nesting countries within five world regions. The model has two components: a fixed effect for social support — how quality community networks predict life satisfaction within every region — and a random effect for region — allowing the baseline level of happiness to vary by geographic cluster.</a:t>
            </a:r>
          </a:p>
          <a:p>
            <a:r>
              <a:rPr lang="en-US" sz="2000" kern="1200" dirty="0">
                <a:solidFill>
                  <a:schemeClr val="tx1"/>
                </a:solidFill>
                <a:effectLst/>
                <a:latin typeface="+mn-lt"/>
                <a:ea typeface="+mn-ea"/>
                <a:cs typeface="+mn-cs"/>
              </a:rPr>
              <a:t>The Intraclass Correlation Coefficient, or ICC, came out at 0.311. This means that 31.1 percent of the total variance in life satisfaction across all countries is explained purely by which region a country belongs to — before we know anything about the country's wealth, its social programs, or its individual citizens.</a:t>
            </a:r>
          </a:p>
          <a:p>
            <a:r>
              <a:rPr lang="en-US" sz="2000" kern="1200" dirty="0">
                <a:solidFill>
                  <a:schemeClr val="tx1"/>
                </a:solidFill>
                <a:effectLst/>
                <a:latin typeface="+mn-lt"/>
                <a:ea typeface="+mn-ea"/>
                <a:cs typeface="+mn-cs"/>
              </a:rPr>
              <a:t>Look at the table. North America leads with a life satisfaction score of 7.00. Sub-Saharan Africa sits at 4.90. That is a gap of over two full points on a ten-point scale, and much of it is structural — tied to regional history, institutional stability, and shared economic baselines.</a:t>
            </a:r>
          </a:p>
          <a:p>
            <a:r>
              <a:rPr lang="en-US" sz="2000" kern="1200" dirty="0">
                <a:solidFill>
                  <a:schemeClr val="tx1"/>
                </a:solidFill>
                <a:effectLst/>
                <a:latin typeface="+mn-lt"/>
                <a:ea typeface="+mn-ea"/>
                <a:cs typeface="+mn-cs"/>
              </a:rPr>
              <a:t>But here is the critical nuance. The fixed effect for social support is beta = 0.054, t = 4.75, p less than .001. For every one-percent increase in social support — the share of people who say they have someone to count on in times of need — life satisfaction rises by approximately 0.05 points, regardless of what region you are in.</a:t>
            </a:r>
          </a:p>
          <a:p>
            <a:r>
              <a:rPr lang="en-US" sz="2000" kern="1200" dirty="0">
                <a:solidFill>
                  <a:schemeClr val="tx1"/>
                </a:solidFill>
                <a:effectLst/>
                <a:latin typeface="+mn-lt"/>
                <a:ea typeface="+mn-ea"/>
                <a:cs typeface="+mn-cs"/>
              </a:rPr>
              <a:t>Geography sets the floor. But the quality of your community can raise you above it. Social capital is not just a nice-to-have — it is a statistically dominant predictor of well-being that transcends borders.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The final batch asks the deepest question of all: are all of these indicators — GDP, employment, housing, social support, life satisfaction — actually separate things, or are they symptoms of one underlying reality?</a:t>
            </a:r>
          </a:p>
          <a:p>
            <a:r>
              <a:rPr lang="en-US" sz="2000" kern="1200" dirty="0">
                <a:solidFill>
                  <a:schemeClr val="tx1"/>
                </a:solidFill>
                <a:effectLst/>
                <a:latin typeface="+mn-lt"/>
                <a:ea typeface="+mn-ea"/>
                <a:cs typeface="+mn-cs"/>
              </a:rPr>
              <a:t>We ran an Exploratory Factor Analysis on five OECD indicators. Before interpreting the results, we confirmed the data was suitable for factoring. The Kaiser-Meyer-Olkin score was 0.74 — in the middling-to-good range. Bartlett's Test of Sphericity was significant at chi-squared = 1888.1, p less than .001, confirming the variables are sufficiently intercorrelated.</a:t>
            </a:r>
          </a:p>
          <a:p>
            <a:r>
              <a:rPr lang="en-US" sz="2000" kern="1200" dirty="0">
                <a:solidFill>
                  <a:schemeClr val="tx1"/>
                </a:solidFill>
                <a:effectLst/>
                <a:latin typeface="+mn-lt"/>
                <a:ea typeface="+mn-ea"/>
                <a:cs typeface="+mn-cs"/>
              </a:rPr>
              <a:t>The result was remarkably clean. A single latent factor emerged, explaining 42.2 percent of all variance across the five indicators.</a:t>
            </a:r>
          </a:p>
          <a:p>
            <a:r>
              <a:rPr lang="en-US" sz="2000" kern="1200" dirty="0">
                <a:solidFill>
                  <a:schemeClr val="tx1"/>
                </a:solidFill>
                <a:effectLst/>
                <a:latin typeface="+mn-lt"/>
                <a:ea typeface="+mn-ea"/>
                <a:cs typeface="+mn-cs"/>
              </a:rPr>
              <a:t>Life Satisfaction loaded at 0.84 — the primary anchor. Social Support loaded at 0.72 — the secondary anchor. Employment Rate at 0.58. GDP per Capita at 0.51. Housing Affordability at 0.38 — the weakest link, but still part of the same structure.</a:t>
            </a:r>
          </a:p>
          <a:p>
            <a:r>
              <a:rPr lang="en-US" sz="2000" kern="1200" dirty="0">
                <a:solidFill>
                  <a:schemeClr val="tx1"/>
                </a:solidFill>
                <a:effectLst/>
                <a:latin typeface="+mn-lt"/>
                <a:ea typeface="+mn-ea"/>
                <a:cs typeface="+mn-cs"/>
              </a:rPr>
              <a:t>What this tells us is that wealth, employment, and social capital are not independent dimensions of national success. They are all manifestations of a single underlying engine — what we can call Quality of Life. When a society invests in one of these dimensions, the others tend to respond. When one dimension deteriorates, the others are at risk.</a:t>
            </a:r>
          </a:p>
          <a:p>
            <a:r>
              <a:rPr lang="en-US" sz="2000" kern="1200" dirty="0">
                <a:solidFill>
                  <a:schemeClr val="tx1"/>
                </a:solidFill>
                <a:effectLst/>
                <a:latin typeface="+mn-lt"/>
                <a:ea typeface="+mn-ea"/>
                <a:cs typeface="+mn-cs"/>
              </a:rPr>
              <a:t>This is the mathematical foundation for the policy recommendation we will discuss in a moment.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Six batches of analysis converge on four concrete policy directions.</a:t>
            </a:r>
          </a:p>
          <a:p>
            <a:r>
              <a:rPr lang="en-US" sz="2000" kern="1200" dirty="0">
                <a:solidFill>
                  <a:schemeClr val="tx1"/>
                </a:solidFill>
                <a:effectLst/>
                <a:latin typeface="+mn-lt"/>
                <a:ea typeface="+mn-ea"/>
                <a:cs typeface="+mn-cs"/>
              </a:rPr>
              <a:t>First: invest in social infrastructure. Social support is the most powerful non-economic predictor of life satisfaction in our multilevel model. A one-percent increase in social support raises life satisfaction by 0.05 points regardless of regional context. Programs that build community trust — civic organizations, mental health networks, neighborhood safety initiatives — yield outsized and transferable returns on well-being.</a:t>
            </a:r>
          </a:p>
          <a:p>
            <a:r>
              <a:rPr lang="en-US" sz="2000" kern="1200" dirty="0">
                <a:solidFill>
                  <a:schemeClr val="tx1"/>
                </a:solidFill>
                <a:effectLst/>
                <a:latin typeface="+mn-lt"/>
                <a:ea typeface="+mn-ea"/>
                <a:cs typeface="+mn-cs"/>
              </a:rPr>
              <a:t>Second: target healthcare spending directly. Our regression showed that healthcare expenditure as a share of GDP is an independent predictor of life expectancy, even after controlling for national wealth and education levels. A wealthy country that underinvests in health is leaving years of life on the table. Economic growth is not a substitute for direct health programs.</a:t>
            </a:r>
          </a:p>
          <a:p>
            <a:r>
              <a:rPr lang="en-US" sz="2000" kern="1200" dirty="0">
                <a:solidFill>
                  <a:schemeClr val="tx1"/>
                </a:solidFill>
                <a:effectLst/>
                <a:latin typeface="+mn-lt"/>
                <a:ea typeface="+mn-ea"/>
                <a:cs typeface="+mn-cs"/>
              </a:rPr>
              <a:t>Third: address the structural barriers women face in the workplace. Our Batch 2 data shows clearly that the gender optimism gap does not close with education — it widens, peaking at the Junior College level and persisting through the Graduate tier. This tells us the problem is not access to credentials. It is what happens after graduation. Targeted pay equity legislation, anti-discrimination enforcement, and workplace flexibility policies are needed alongside — not instead of — educational investment.</a:t>
            </a:r>
          </a:p>
          <a:p>
            <a:r>
              <a:rPr lang="en-US" sz="2000" kern="1200" dirty="0">
                <a:solidFill>
                  <a:schemeClr val="tx1"/>
                </a:solidFill>
                <a:effectLst/>
                <a:latin typeface="+mn-lt"/>
                <a:ea typeface="+mn-ea"/>
                <a:cs typeface="+mn-cs"/>
              </a:rPr>
              <a:t>And fourth: adopt holistic policy design. Because our factor analysis showed that GDP, employment, and social capital all co-load on a single Quality of Life factor, siloed approaches — focusing only on economic growth, or only on education, or only on healthcare — are mathematically inefficient. Move one lever and the whole system responds. That means integrated, cross-sectoral policy is not idealism — it is what the data recommends.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kern="1200" dirty="0">
                <a:solidFill>
                  <a:schemeClr val="tx1"/>
                </a:solidFill>
                <a:effectLst/>
                <a:latin typeface="+mn-lt"/>
                <a:ea typeface="+mn-ea"/>
                <a:cs typeface="+mn-cs"/>
              </a:rPr>
              <a:t>Let me bring this home.</a:t>
            </a:r>
          </a:p>
          <a:p>
            <a:r>
              <a:rPr lang="en-US" sz="2000" kern="1200" dirty="0">
                <a:solidFill>
                  <a:schemeClr val="tx1"/>
                </a:solidFill>
                <a:effectLst/>
                <a:latin typeface="+mn-lt"/>
                <a:ea typeface="+mn-ea"/>
                <a:cs typeface="+mn-cs"/>
              </a:rPr>
              <a:t>Well-being is a nested phenomenon. It is shaped simultaneously by decisions we make as individuals, by the institutions and economies of the nations we inhabit, and by the geographic and historical contexts of the regions we were born into. No single variable explains it. No single policy fixes it.</a:t>
            </a:r>
          </a:p>
          <a:p>
            <a:r>
              <a:rPr lang="en-US" sz="2000" kern="1200" dirty="0">
                <a:solidFill>
                  <a:schemeClr val="tx1"/>
                </a:solidFill>
                <a:effectLst/>
                <a:latin typeface="+mn-lt"/>
                <a:ea typeface="+mn-ea"/>
                <a:cs typeface="+mn-cs"/>
              </a:rPr>
              <a:t>What this research shows, across six analytical batches and three datasets, is that five findings stand out above all others.</a:t>
            </a:r>
          </a:p>
          <a:p>
            <a:r>
              <a:rPr lang="en-US" sz="2000" kern="1200" dirty="0">
                <a:solidFill>
                  <a:schemeClr val="tx1"/>
                </a:solidFill>
                <a:effectLst/>
                <a:latin typeface="+mn-lt"/>
                <a:ea typeface="+mn-ea"/>
                <a:cs typeface="+mn-cs"/>
              </a:rPr>
              <a:t>One: gender shapes economic optimism in the United States, and that gap widens — not narrows — as education increases. Structural barriers in the labor market persist even at the highest credential levels.</a:t>
            </a:r>
          </a:p>
          <a:p>
            <a:r>
              <a:rPr lang="en-US" sz="2000" kern="1200" dirty="0">
                <a:solidFill>
                  <a:schemeClr val="tx1"/>
                </a:solidFill>
                <a:effectLst/>
                <a:latin typeface="+mn-lt"/>
                <a:ea typeface="+mn-ea"/>
                <a:cs typeface="+mn-cs"/>
              </a:rPr>
              <a:t>Two: at the national level, wealth, education, and targeted healthcare investment all independently drive life expectancy. Growth alone is not enough.</a:t>
            </a:r>
          </a:p>
          <a:p>
            <a:r>
              <a:rPr lang="en-US" sz="2000" kern="1200" dirty="0">
                <a:solidFill>
                  <a:schemeClr val="tx1"/>
                </a:solidFill>
                <a:effectLst/>
                <a:latin typeface="+mn-lt"/>
                <a:ea typeface="+mn-ea"/>
                <a:cs typeface="+mn-cs"/>
              </a:rPr>
              <a:t>Three: the mechanism linking education to happiness runs almost entirely through income. 99.4 percent of the effect is mediated by economic security. Education's value to subjective well-being is primarily financial.</a:t>
            </a:r>
          </a:p>
          <a:p>
            <a:r>
              <a:rPr lang="en-US" sz="2000" kern="1200" dirty="0">
                <a:solidFill>
                  <a:schemeClr val="tx1"/>
                </a:solidFill>
                <a:effectLst/>
                <a:latin typeface="+mn-lt"/>
                <a:ea typeface="+mn-ea"/>
                <a:cs typeface="+mn-cs"/>
              </a:rPr>
              <a:t>Four: 31 percent of global happiness variance is determined by regional geography alone — before we know anything about a country's policies or its people. But social support can overcome that regional baseline.</a:t>
            </a:r>
          </a:p>
          <a:p>
            <a:r>
              <a:rPr lang="en-US" sz="2000" kern="1200" dirty="0">
                <a:solidFill>
                  <a:schemeClr val="tx1"/>
                </a:solidFill>
                <a:effectLst/>
                <a:latin typeface="+mn-lt"/>
                <a:ea typeface="+mn-ea"/>
                <a:cs typeface="+mn-cs"/>
              </a:rPr>
              <a:t>And five: all of these indicators — wealth, employment, social support, life satisfaction — are not separate metrics. They are co-expressions of a single latent construct: Quality of Life.</a:t>
            </a:r>
          </a:p>
          <a:p>
            <a:r>
              <a:rPr lang="en-US" sz="2000" kern="1200" dirty="0">
                <a:solidFill>
                  <a:schemeClr val="tx1"/>
                </a:solidFill>
                <a:effectLst/>
                <a:latin typeface="+mn-lt"/>
                <a:ea typeface="+mn-ea"/>
                <a:cs typeface="+mn-cs"/>
              </a:rPr>
              <a:t>The policy recommendation that ties all of this together is what we call Well-Being Budgeting — an integrated approach that invests simultaneously in social programs, healthcare, education, and workplace equity — because the data tells us, unambiguously, that these systems rise and fall together.</a:t>
            </a:r>
          </a:p>
          <a:p>
            <a:r>
              <a:rPr lang="en-US" sz="2000" kern="1200" dirty="0">
                <a:solidFill>
                  <a:schemeClr val="tx1"/>
                </a:solidFill>
                <a:effectLst/>
                <a:latin typeface="+mn-lt"/>
                <a:ea typeface="+mn-ea"/>
                <a:cs typeface="+mn-cs"/>
              </a:rPr>
              <a:t>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0" y="4846320"/>
            <a:ext cx="9144000" cy="292608"/>
          </a:xfrm>
          <a:prstGeom prst="rect">
            <a:avLst/>
          </a:prstGeom>
          <a:solidFill>
            <a:srgbClr val="E8A838"/>
          </a:solidFill>
          <a:ln w="12700">
            <a:solidFill>
              <a:srgbClr val="E8A838"/>
            </a:solidFill>
            <a:prstDash val="solid"/>
          </a:ln>
        </p:spPr>
        <p:txBody>
          <a:bodyPr/>
          <a:lstStyle/>
          <a:p>
            <a:endParaRPr lang="en-US"/>
          </a:p>
        </p:txBody>
      </p:sp>
      <p:sp>
        <p:nvSpPr>
          <p:cNvPr id="4" name="Shape 2"/>
          <p:cNvSpPr/>
          <p:nvPr/>
        </p:nvSpPr>
        <p:spPr>
          <a:xfrm>
            <a:off x="0" y="73152"/>
            <a:ext cx="109728" cy="4773168"/>
          </a:xfrm>
          <a:prstGeom prst="rect">
            <a:avLst/>
          </a:prstGeom>
          <a:solidFill>
            <a:srgbClr val="028090"/>
          </a:solidFill>
          <a:ln w="12700">
            <a:solidFill>
              <a:srgbClr val="028090"/>
            </a:solidFill>
            <a:prstDash val="solid"/>
          </a:ln>
        </p:spPr>
        <p:txBody>
          <a:bodyPr/>
          <a:lstStyle/>
          <a:p>
            <a:endParaRPr lang="en-US"/>
          </a:p>
        </p:txBody>
      </p:sp>
      <p:sp>
        <p:nvSpPr>
          <p:cNvPr id="5" name="Text 3"/>
          <p:cNvSpPr/>
          <p:nvPr/>
        </p:nvSpPr>
        <p:spPr>
          <a:xfrm>
            <a:off x="320040" y="914400"/>
            <a:ext cx="8503920" cy="822960"/>
          </a:xfrm>
          <a:prstGeom prst="rect">
            <a:avLst/>
          </a:prstGeom>
          <a:noFill/>
          <a:ln/>
        </p:spPr>
        <p:txBody>
          <a:bodyPr wrap="square" lIns="0" tIns="0" rIns="0" bIns="0" rtlCol="0" anchor="ctr"/>
          <a:lstStyle/>
          <a:p>
            <a:pPr marL="0" indent="0" algn="l">
              <a:buNone/>
            </a:pPr>
            <a:r>
              <a:rPr lang="en-US" sz="3600" b="1" kern="0" spc="300" dirty="0">
                <a:solidFill>
                  <a:srgbClr val="FFFFFF"/>
                </a:solidFill>
                <a:latin typeface="Calibri" pitchFamily="34" charset="0"/>
                <a:ea typeface="Calibri" pitchFamily="34" charset="-122"/>
                <a:cs typeface="Calibri" pitchFamily="34" charset="-120"/>
              </a:rPr>
              <a:t>THE GEOGRAPHY OF HAPPINESS</a:t>
            </a:r>
            <a:endParaRPr lang="en-US" sz="3600" dirty="0"/>
          </a:p>
        </p:txBody>
      </p:sp>
      <p:sp>
        <p:nvSpPr>
          <p:cNvPr id="6" name="Text 4"/>
          <p:cNvSpPr/>
          <p:nvPr/>
        </p:nvSpPr>
        <p:spPr>
          <a:xfrm>
            <a:off x="320040" y="1783080"/>
            <a:ext cx="8503920" cy="502920"/>
          </a:xfrm>
          <a:prstGeom prst="rect">
            <a:avLst/>
          </a:prstGeom>
          <a:noFill/>
          <a:ln/>
        </p:spPr>
        <p:txBody>
          <a:bodyPr wrap="square" lIns="0" tIns="0" rIns="0" bIns="0" rtlCol="0" anchor="ctr"/>
          <a:lstStyle/>
          <a:p>
            <a:pPr marL="0" indent="0" algn="l">
              <a:buNone/>
            </a:pPr>
            <a:r>
              <a:rPr lang="en-US" sz="2000" i="1" dirty="0">
                <a:solidFill>
                  <a:srgbClr val="02A4B0"/>
                </a:solidFill>
                <a:latin typeface="Calibri" pitchFamily="34" charset="0"/>
                <a:ea typeface="Calibri" pitchFamily="34" charset="-122"/>
                <a:cs typeface="Calibri" pitchFamily="34" charset="-120"/>
              </a:rPr>
              <a:t>Mapping the Hidden Drivers of Quality of Life</a:t>
            </a:r>
            <a:endParaRPr lang="en-US" sz="2000" dirty="0"/>
          </a:p>
        </p:txBody>
      </p:sp>
      <p:sp>
        <p:nvSpPr>
          <p:cNvPr id="7" name="Text 5"/>
          <p:cNvSpPr/>
          <p:nvPr/>
        </p:nvSpPr>
        <p:spPr>
          <a:xfrm>
            <a:off x="320040" y="2423160"/>
            <a:ext cx="8229600" cy="365760"/>
          </a:xfrm>
          <a:prstGeom prst="rect">
            <a:avLst/>
          </a:prstGeom>
          <a:noFill/>
          <a:ln/>
        </p:spPr>
        <p:txBody>
          <a:bodyPr wrap="square" lIns="0" tIns="0" rIns="0" bIns="0" rtlCol="0" anchor="ctr"/>
          <a:lstStyle/>
          <a:p>
            <a:pPr marL="0" indent="0" algn="l">
              <a:buNone/>
            </a:pPr>
            <a:r>
              <a:rPr lang="en-US" sz="1400" dirty="0">
                <a:solidFill>
                  <a:srgbClr val="E2E8F0"/>
                </a:solidFill>
                <a:latin typeface="Calibri" pitchFamily="34" charset="0"/>
                <a:ea typeface="Calibri" pitchFamily="34" charset="-122"/>
                <a:cs typeface="Calibri" pitchFamily="34" charset="-120"/>
              </a:rPr>
              <a:t>A Multi-Level Statistical Analysis  |  2005–2024</a:t>
            </a:r>
            <a:endParaRPr lang="en-US" sz="1400" dirty="0"/>
          </a:p>
        </p:txBody>
      </p:sp>
      <p:sp>
        <p:nvSpPr>
          <p:cNvPr id="8" name="Text 6"/>
          <p:cNvSpPr/>
          <p:nvPr/>
        </p:nvSpPr>
        <p:spPr>
          <a:xfrm>
            <a:off x="320040" y="4434840"/>
            <a:ext cx="8503920" cy="320040"/>
          </a:xfrm>
          <a:prstGeom prst="rect">
            <a:avLst/>
          </a:prstGeom>
          <a:noFill/>
          <a:ln/>
        </p:spPr>
        <p:txBody>
          <a:bodyPr wrap="square" lIns="0" tIns="0" rIns="0" bIns="0"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Data Sources: General Social Survey  ·  World Development Indicators  ·  OECD Better Life Index</a:t>
            </a:r>
            <a:endParaRPr lang="en-US" sz="1100" dirty="0"/>
          </a:p>
        </p:txBody>
      </p:sp>
      <p:sp>
        <p:nvSpPr>
          <p:cNvPr id="9" name="Shape 7"/>
          <p:cNvSpPr/>
          <p:nvPr/>
        </p:nvSpPr>
        <p:spPr>
          <a:xfrm>
            <a:off x="64008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10" name="Text 8"/>
          <p:cNvSpPr/>
          <p:nvPr/>
        </p:nvSpPr>
        <p:spPr>
          <a:xfrm>
            <a:off x="64008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T-Test</a:t>
            </a:r>
            <a:endParaRPr lang="en-US" sz="1000" dirty="0"/>
          </a:p>
        </p:txBody>
      </p:sp>
      <p:sp>
        <p:nvSpPr>
          <p:cNvPr id="11" name="Shape 9"/>
          <p:cNvSpPr/>
          <p:nvPr/>
        </p:nvSpPr>
        <p:spPr>
          <a:xfrm>
            <a:off x="196596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12" name="Text 10"/>
          <p:cNvSpPr/>
          <p:nvPr/>
        </p:nvSpPr>
        <p:spPr>
          <a:xfrm>
            <a:off x="196596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Two-Way ANOVA</a:t>
            </a:r>
            <a:endParaRPr lang="en-US" sz="1000" dirty="0"/>
          </a:p>
        </p:txBody>
      </p:sp>
      <p:sp>
        <p:nvSpPr>
          <p:cNvPr id="13" name="Shape 11"/>
          <p:cNvSpPr/>
          <p:nvPr/>
        </p:nvSpPr>
        <p:spPr>
          <a:xfrm>
            <a:off x="329184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14" name="Text 12"/>
          <p:cNvSpPr/>
          <p:nvPr/>
        </p:nvSpPr>
        <p:spPr>
          <a:xfrm>
            <a:off x="329184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Regression</a:t>
            </a:r>
            <a:endParaRPr lang="en-US" sz="1000" dirty="0"/>
          </a:p>
        </p:txBody>
      </p:sp>
      <p:sp>
        <p:nvSpPr>
          <p:cNvPr id="15" name="Shape 13"/>
          <p:cNvSpPr/>
          <p:nvPr/>
        </p:nvSpPr>
        <p:spPr>
          <a:xfrm>
            <a:off x="461772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16" name="Text 14"/>
          <p:cNvSpPr/>
          <p:nvPr/>
        </p:nvSpPr>
        <p:spPr>
          <a:xfrm>
            <a:off x="461772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Mediation</a:t>
            </a:r>
            <a:endParaRPr lang="en-US" sz="1000" dirty="0"/>
          </a:p>
        </p:txBody>
      </p:sp>
      <p:sp>
        <p:nvSpPr>
          <p:cNvPr id="17" name="Shape 15"/>
          <p:cNvSpPr/>
          <p:nvPr/>
        </p:nvSpPr>
        <p:spPr>
          <a:xfrm>
            <a:off x="594360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18" name="Text 16"/>
          <p:cNvSpPr/>
          <p:nvPr/>
        </p:nvSpPr>
        <p:spPr>
          <a:xfrm>
            <a:off x="594360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MLM</a:t>
            </a:r>
            <a:endParaRPr lang="en-US" sz="1000" dirty="0"/>
          </a:p>
        </p:txBody>
      </p:sp>
      <p:sp>
        <p:nvSpPr>
          <p:cNvPr id="19" name="Shape 17"/>
          <p:cNvSpPr/>
          <p:nvPr/>
        </p:nvSpPr>
        <p:spPr>
          <a:xfrm>
            <a:off x="7269480" y="3291840"/>
            <a:ext cx="1234440" cy="411480"/>
          </a:xfrm>
          <a:prstGeom prst="rect">
            <a:avLst/>
          </a:prstGeom>
          <a:solidFill>
            <a:srgbClr val="028090"/>
          </a:solidFill>
          <a:ln w="12700">
            <a:solidFill>
              <a:srgbClr val="02A4B0"/>
            </a:solidFill>
            <a:prstDash val="solid"/>
          </a:ln>
        </p:spPr>
        <p:txBody>
          <a:bodyPr/>
          <a:lstStyle/>
          <a:p>
            <a:endParaRPr lang="en-US"/>
          </a:p>
        </p:txBody>
      </p:sp>
      <p:sp>
        <p:nvSpPr>
          <p:cNvPr id="20" name="Text 18"/>
          <p:cNvSpPr/>
          <p:nvPr/>
        </p:nvSpPr>
        <p:spPr>
          <a:xfrm>
            <a:off x="7269480" y="3291840"/>
            <a:ext cx="123444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Factor Analysis</a:t>
            </a:r>
            <a:endParaRPr lang="en-US" sz="1000" dirty="0"/>
          </a:p>
        </p:txBody>
      </p:sp>
      <p:sp>
        <p:nvSpPr>
          <p:cNvPr id="21" name="Text 19"/>
          <p:cNvSpPr/>
          <p:nvPr/>
        </p:nvSpPr>
        <p:spPr>
          <a:xfrm>
            <a:off x="320040" y="4846320"/>
            <a:ext cx="4572000" cy="292608"/>
          </a:xfrm>
          <a:prstGeom prst="rect">
            <a:avLst/>
          </a:prstGeom>
          <a:noFill/>
          <a:ln/>
        </p:spPr>
        <p:txBody>
          <a:bodyPr wrap="square" lIns="0" tIns="0" rIns="0" bIns="0" rtlCol="0" anchor="ctr"/>
          <a:lstStyle/>
          <a:p>
            <a:pPr marL="0" indent="0" algn="l">
              <a:buNone/>
            </a:pPr>
            <a:r>
              <a:rPr lang="en-US" sz="1100" b="1" dirty="0">
                <a:solidFill>
                  <a:srgbClr val="1B2A4A"/>
                </a:solidFill>
                <a:latin typeface="Calibri" pitchFamily="34" charset="0"/>
                <a:ea typeface="Calibri" pitchFamily="34" charset="-122"/>
                <a:cs typeface="Calibri" pitchFamily="34" charset="-120"/>
              </a:rPr>
              <a:t>John D. Williams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Research Overview</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Six analytical batches · Micro to macro</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2</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457200" y="1188720"/>
            <a:ext cx="2468880" cy="1371600"/>
          </a:xfrm>
          <a:prstGeom prst="rect">
            <a:avLst/>
          </a:prstGeom>
          <a:solidFill>
            <a:srgbClr val="1B2A4A"/>
          </a:solidFill>
          <a:ln w="12700">
            <a:solidFill>
              <a:srgbClr val="1B2A4A"/>
            </a:solidFill>
            <a:prstDash val="solid"/>
          </a:ln>
          <a:effectLst>
            <a:outerShdw blurRad="101600" dist="38100" dir="8100000" algn="bl" rotWithShape="0">
              <a:srgbClr val="000000">
                <a:alpha val="15000"/>
              </a:srgbClr>
            </a:outerShdw>
          </a:effectLst>
        </p:spPr>
        <p:txBody>
          <a:bodyPr/>
          <a:lstStyle/>
          <a:p>
            <a:endParaRPr lang="en-US"/>
          </a:p>
        </p:txBody>
      </p:sp>
      <p:sp>
        <p:nvSpPr>
          <p:cNvPr id="10" name="Text 8"/>
          <p:cNvSpPr/>
          <p:nvPr/>
        </p:nvSpPr>
        <p:spPr>
          <a:xfrm>
            <a:off x="457200" y="1234440"/>
            <a:ext cx="2468880" cy="731520"/>
          </a:xfrm>
          <a:prstGeom prst="rect">
            <a:avLst/>
          </a:prstGeom>
          <a:noFill/>
          <a:ln/>
        </p:spPr>
        <p:txBody>
          <a:bodyPr wrap="square" lIns="0" tIns="0" rIns="0" bIns="0" rtlCol="0" anchor="ctr"/>
          <a:lstStyle/>
          <a:p>
            <a:pPr marL="0" indent="0" algn="ctr">
              <a:buNone/>
            </a:pPr>
            <a:r>
              <a:rPr lang="en-US" sz="4400" b="1" dirty="0">
                <a:solidFill>
                  <a:srgbClr val="E8A838"/>
                </a:solidFill>
                <a:latin typeface="Calibri" pitchFamily="34" charset="0"/>
                <a:ea typeface="Calibri" pitchFamily="34" charset="-122"/>
                <a:cs typeface="Calibri" pitchFamily="34" charset="-120"/>
              </a:rPr>
              <a:t>6</a:t>
            </a:r>
            <a:endParaRPr lang="en-US" sz="4400" dirty="0"/>
          </a:p>
        </p:txBody>
      </p:sp>
      <p:sp>
        <p:nvSpPr>
          <p:cNvPr id="11" name="Text 9"/>
          <p:cNvSpPr/>
          <p:nvPr/>
        </p:nvSpPr>
        <p:spPr>
          <a:xfrm>
            <a:off x="457200" y="1920240"/>
            <a:ext cx="2468880" cy="5943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Statistical</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Methods</a:t>
            </a:r>
            <a:endParaRPr lang="en-US" sz="1200" dirty="0"/>
          </a:p>
        </p:txBody>
      </p:sp>
      <p:sp>
        <p:nvSpPr>
          <p:cNvPr id="12" name="Shape 10"/>
          <p:cNvSpPr/>
          <p:nvPr/>
        </p:nvSpPr>
        <p:spPr>
          <a:xfrm>
            <a:off x="3291840" y="1188720"/>
            <a:ext cx="2468880" cy="1371600"/>
          </a:xfrm>
          <a:prstGeom prst="rect">
            <a:avLst/>
          </a:prstGeom>
          <a:solidFill>
            <a:srgbClr val="1B2A4A"/>
          </a:solidFill>
          <a:ln w="12700">
            <a:solidFill>
              <a:srgbClr val="1B2A4A"/>
            </a:solidFill>
            <a:prstDash val="solid"/>
          </a:ln>
          <a:effectLst>
            <a:outerShdw blurRad="101600" dist="38100" dir="8100000" algn="bl" rotWithShape="0">
              <a:srgbClr val="000000">
                <a:alpha val="15000"/>
              </a:srgbClr>
            </a:outerShdw>
          </a:effectLst>
        </p:spPr>
        <p:txBody>
          <a:bodyPr/>
          <a:lstStyle/>
          <a:p>
            <a:endParaRPr lang="en-US"/>
          </a:p>
        </p:txBody>
      </p:sp>
      <p:sp>
        <p:nvSpPr>
          <p:cNvPr id="13" name="Text 11"/>
          <p:cNvSpPr/>
          <p:nvPr/>
        </p:nvSpPr>
        <p:spPr>
          <a:xfrm>
            <a:off x="3291840" y="1234440"/>
            <a:ext cx="2468880" cy="731520"/>
          </a:xfrm>
          <a:prstGeom prst="rect">
            <a:avLst/>
          </a:prstGeom>
          <a:noFill/>
          <a:ln/>
        </p:spPr>
        <p:txBody>
          <a:bodyPr wrap="square" lIns="0" tIns="0" rIns="0" bIns="0" rtlCol="0" anchor="ctr"/>
          <a:lstStyle/>
          <a:p>
            <a:pPr marL="0" indent="0" algn="ctr">
              <a:buNone/>
            </a:pPr>
            <a:r>
              <a:rPr lang="en-US" sz="4400" b="1" dirty="0">
                <a:solidFill>
                  <a:srgbClr val="E8A838"/>
                </a:solidFill>
                <a:latin typeface="Calibri" pitchFamily="34" charset="0"/>
                <a:ea typeface="Calibri" pitchFamily="34" charset="-122"/>
                <a:cs typeface="Calibri" pitchFamily="34" charset="-120"/>
              </a:rPr>
              <a:t>20</a:t>
            </a:r>
            <a:endParaRPr lang="en-US" sz="4400" dirty="0"/>
          </a:p>
        </p:txBody>
      </p:sp>
      <p:sp>
        <p:nvSpPr>
          <p:cNvPr id="14" name="Text 12"/>
          <p:cNvSpPr/>
          <p:nvPr/>
        </p:nvSpPr>
        <p:spPr>
          <a:xfrm>
            <a:off x="3291840" y="1920240"/>
            <a:ext cx="2468880" cy="5943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Years of</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Data</a:t>
            </a:r>
            <a:endParaRPr lang="en-US" sz="1200" dirty="0"/>
          </a:p>
        </p:txBody>
      </p:sp>
      <p:sp>
        <p:nvSpPr>
          <p:cNvPr id="15" name="Shape 13"/>
          <p:cNvSpPr/>
          <p:nvPr/>
        </p:nvSpPr>
        <p:spPr>
          <a:xfrm>
            <a:off x="6126480" y="1188720"/>
            <a:ext cx="2468880" cy="1371600"/>
          </a:xfrm>
          <a:prstGeom prst="rect">
            <a:avLst/>
          </a:prstGeom>
          <a:solidFill>
            <a:srgbClr val="1B2A4A"/>
          </a:solidFill>
          <a:ln w="12700">
            <a:solidFill>
              <a:srgbClr val="1B2A4A"/>
            </a:solidFill>
            <a:prstDash val="solid"/>
          </a:ln>
          <a:effectLst>
            <a:outerShdw blurRad="101600" dist="38100" dir="8100000" algn="bl" rotWithShape="0">
              <a:srgbClr val="000000">
                <a:alpha val="15000"/>
              </a:srgbClr>
            </a:outerShdw>
          </a:effectLst>
        </p:spPr>
        <p:txBody>
          <a:bodyPr/>
          <a:lstStyle/>
          <a:p>
            <a:endParaRPr lang="en-US"/>
          </a:p>
        </p:txBody>
      </p:sp>
      <p:sp>
        <p:nvSpPr>
          <p:cNvPr id="16" name="Text 14"/>
          <p:cNvSpPr/>
          <p:nvPr/>
        </p:nvSpPr>
        <p:spPr>
          <a:xfrm>
            <a:off x="6126480" y="1234440"/>
            <a:ext cx="2468880" cy="731520"/>
          </a:xfrm>
          <a:prstGeom prst="rect">
            <a:avLst/>
          </a:prstGeom>
          <a:noFill/>
          <a:ln/>
        </p:spPr>
        <p:txBody>
          <a:bodyPr wrap="square" lIns="0" tIns="0" rIns="0" bIns="0" rtlCol="0" anchor="ctr"/>
          <a:lstStyle/>
          <a:p>
            <a:pPr marL="0" indent="0" algn="ctr">
              <a:buNone/>
            </a:pPr>
            <a:r>
              <a:rPr lang="en-US" sz="4400" b="1" dirty="0">
                <a:solidFill>
                  <a:srgbClr val="E8A838"/>
                </a:solidFill>
                <a:latin typeface="Calibri" pitchFamily="34" charset="0"/>
                <a:ea typeface="Calibri" pitchFamily="34" charset="-122"/>
                <a:cs typeface="Calibri" pitchFamily="34" charset="-120"/>
              </a:rPr>
              <a:t>3</a:t>
            </a:r>
            <a:endParaRPr lang="en-US" sz="4400" dirty="0"/>
          </a:p>
        </p:txBody>
      </p:sp>
      <p:sp>
        <p:nvSpPr>
          <p:cNvPr id="17" name="Text 15"/>
          <p:cNvSpPr/>
          <p:nvPr/>
        </p:nvSpPr>
        <p:spPr>
          <a:xfrm>
            <a:off x="6126480" y="1920240"/>
            <a:ext cx="2468880" cy="5943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Primary</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Datasets</a:t>
            </a:r>
            <a:endParaRPr lang="en-US" sz="1200" dirty="0"/>
          </a:p>
        </p:txBody>
      </p:sp>
      <p:sp>
        <p:nvSpPr>
          <p:cNvPr id="18" name="Shape 16"/>
          <p:cNvSpPr/>
          <p:nvPr/>
        </p:nvSpPr>
        <p:spPr>
          <a:xfrm>
            <a:off x="365760" y="2788920"/>
            <a:ext cx="4206240" cy="822960"/>
          </a:xfrm>
          <a:prstGeom prst="rect">
            <a:avLst/>
          </a:prstGeom>
          <a:solidFill>
            <a:srgbClr val="FFFFFF"/>
          </a:solidFill>
          <a:ln w="12700">
            <a:solidFill>
              <a:srgbClr val="E2E8F0"/>
            </a:solidFill>
            <a:prstDash val="solid"/>
          </a:ln>
        </p:spPr>
        <p:txBody>
          <a:bodyPr/>
          <a:lstStyle/>
          <a:p>
            <a:endParaRPr lang="en-US"/>
          </a:p>
        </p:txBody>
      </p:sp>
      <p:sp>
        <p:nvSpPr>
          <p:cNvPr id="19" name="Shape 17"/>
          <p:cNvSpPr/>
          <p:nvPr/>
        </p:nvSpPr>
        <p:spPr>
          <a:xfrm>
            <a:off x="365760" y="2788920"/>
            <a:ext cx="73152" cy="822960"/>
          </a:xfrm>
          <a:prstGeom prst="rect">
            <a:avLst/>
          </a:prstGeom>
          <a:solidFill>
            <a:srgbClr val="028090"/>
          </a:solidFill>
          <a:ln w="12700">
            <a:solidFill>
              <a:srgbClr val="028090"/>
            </a:solidFill>
            <a:prstDash val="solid"/>
          </a:ln>
        </p:spPr>
        <p:txBody>
          <a:bodyPr/>
          <a:lstStyle/>
          <a:p>
            <a:endParaRPr lang="en-US"/>
          </a:p>
        </p:txBody>
      </p:sp>
      <p:sp>
        <p:nvSpPr>
          <p:cNvPr id="20" name="Text 18"/>
          <p:cNvSpPr/>
          <p:nvPr/>
        </p:nvSpPr>
        <p:spPr>
          <a:xfrm>
            <a:off x="502920" y="2788920"/>
            <a:ext cx="3977640" cy="82296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①  How do gender &amp; education shape perceptions of the American Dream?</a:t>
            </a:r>
            <a:endParaRPr lang="en-US" sz="1100" dirty="0"/>
          </a:p>
        </p:txBody>
      </p:sp>
      <p:sp>
        <p:nvSpPr>
          <p:cNvPr id="21" name="Shape 19"/>
          <p:cNvSpPr/>
          <p:nvPr/>
        </p:nvSpPr>
        <p:spPr>
          <a:xfrm>
            <a:off x="365760" y="3749040"/>
            <a:ext cx="4206240" cy="822960"/>
          </a:xfrm>
          <a:prstGeom prst="rect">
            <a:avLst/>
          </a:prstGeom>
          <a:solidFill>
            <a:srgbClr val="FFFFFF"/>
          </a:solidFill>
          <a:ln w="12700">
            <a:solidFill>
              <a:srgbClr val="E2E8F0"/>
            </a:solidFill>
            <a:prstDash val="solid"/>
          </a:ln>
        </p:spPr>
        <p:txBody>
          <a:bodyPr/>
          <a:lstStyle/>
          <a:p>
            <a:endParaRPr lang="en-US"/>
          </a:p>
        </p:txBody>
      </p:sp>
      <p:sp>
        <p:nvSpPr>
          <p:cNvPr id="22" name="Shape 20"/>
          <p:cNvSpPr/>
          <p:nvPr/>
        </p:nvSpPr>
        <p:spPr>
          <a:xfrm>
            <a:off x="365760" y="3749040"/>
            <a:ext cx="73152" cy="82296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502920" y="3749040"/>
            <a:ext cx="3977640" cy="82296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②  What macro-economic factors drive national life expectancy?</a:t>
            </a:r>
            <a:endParaRPr lang="en-US" sz="1100" dirty="0"/>
          </a:p>
        </p:txBody>
      </p:sp>
      <p:sp>
        <p:nvSpPr>
          <p:cNvPr id="24" name="Shape 22"/>
          <p:cNvSpPr/>
          <p:nvPr/>
        </p:nvSpPr>
        <p:spPr>
          <a:xfrm>
            <a:off x="4937760" y="2788920"/>
            <a:ext cx="4206240" cy="822960"/>
          </a:xfrm>
          <a:prstGeom prst="rect">
            <a:avLst/>
          </a:prstGeom>
          <a:solidFill>
            <a:srgbClr val="FFFFFF"/>
          </a:solidFill>
          <a:ln w="12700">
            <a:solidFill>
              <a:srgbClr val="E2E8F0"/>
            </a:solidFill>
            <a:prstDash val="solid"/>
          </a:ln>
        </p:spPr>
        <p:txBody>
          <a:bodyPr/>
          <a:lstStyle/>
          <a:p>
            <a:endParaRPr lang="en-US"/>
          </a:p>
        </p:txBody>
      </p:sp>
      <p:sp>
        <p:nvSpPr>
          <p:cNvPr id="25" name="Shape 23"/>
          <p:cNvSpPr/>
          <p:nvPr/>
        </p:nvSpPr>
        <p:spPr>
          <a:xfrm>
            <a:off x="4937760" y="2788920"/>
            <a:ext cx="73152" cy="822960"/>
          </a:xfrm>
          <a:prstGeom prst="rect">
            <a:avLst/>
          </a:prstGeom>
          <a:solidFill>
            <a:srgbClr val="028090"/>
          </a:solidFill>
          <a:ln w="12700">
            <a:solidFill>
              <a:srgbClr val="028090"/>
            </a:solidFill>
            <a:prstDash val="solid"/>
          </a:ln>
        </p:spPr>
        <p:txBody>
          <a:bodyPr/>
          <a:lstStyle/>
          <a:p>
            <a:endParaRPr lang="en-US"/>
          </a:p>
        </p:txBody>
      </p:sp>
      <p:sp>
        <p:nvSpPr>
          <p:cNvPr id="26" name="Text 24"/>
          <p:cNvSpPr/>
          <p:nvPr/>
        </p:nvSpPr>
        <p:spPr>
          <a:xfrm>
            <a:off x="5074920" y="2788920"/>
            <a:ext cx="3977640" cy="82296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③  Does income fully mediate education's effect on happiness?</a:t>
            </a:r>
            <a:endParaRPr lang="en-US" sz="1100" dirty="0"/>
          </a:p>
        </p:txBody>
      </p:sp>
      <p:sp>
        <p:nvSpPr>
          <p:cNvPr id="27" name="Shape 25"/>
          <p:cNvSpPr/>
          <p:nvPr/>
        </p:nvSpPr>
        <p:spPr>
          <a:xfrm>
            <a:off x="4937760" y="3749040"/>
            <a:ext cx="4206240" cy="822960"/>
          </a:xfrm>
          <a:prstGeom prst="rect">
            <a:avLst/>
          </a:prstGeom>
          <a:solidFill>
            <a:srgbClr val="FFFFFF"/>
          </a:solidFill>
          <a:ln w="12700">
            <a:solidFill>
              <a:srgbClr val="E2E8F0"/>
            </a:solidFill>
            <a:prstDash val="solid"/>
          </a:ln>
        </p:spPr>
        <p:txBody>
          <a:bodyPr/>
          <a:lstStyle/>
          <a:p>
            <a:endParaRPr lang="en-US"/>
          </a:p>
        </p:txBody>
      </p:sp>
      <p:sp>
        <p:nvSpPr>
          <p:cNvPr id="28" name="Shape 26"/>
          <p:cNvSpPr/>
          <p:nvPr/>
        </p:nvSpPr>
        <p:spPr>
          <a:xfrm>
            <a:off x="4937760" y="3749040"/>
            <a:ext cx="73152" cy="822960"/>
          </a:xfrm>
          <a:prstGeom prst="rect">
            <a:avLst/>
          </a:prstGeom>
          <a:solidFill>
            <a:srgbClr val="028090"/>
          </a:solidFill>
          <a:ln w="12700">
            <a:solidFill>
              <a:srgbClr val="028090"/>
            </a:solidFill>
            <a:prstDash val="solid"/>
          </a:ln>
        </p:spPr>
        <p:txBody>
          <a:bodyPr/>
          <a:lstStyle/>
          <a:p>
            <a:endParaRPr lang="en-US"/>
          </a:p>
        </p:txBody>
      </p:sp>
      <p:sp>
        <p:nvSpPr>
          <p:cNvPr id="29" name="Text 27"/>
          <p:cNvSpPr/>
          <p:nvPr/>
        </p:nvSpPr>
        <p:spPr>
          <a:xfrm>
            <a:off x="5074920" y="3749040"/>
            <a:ext cx="3977640" cy="82296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④  How much does geography determine life satisfaction globally?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1: Gender &amp; Economic Optimism</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Independent Samples T-Test  ·  GSS Data  ·  N = 28,730</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3</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365760" y="1097280"/>
            <a:ext cx="8412480" cy="502920"/>
          </a:xfrm>
          <a:prstGeom prst="rect">
            <a:avLst/>
          </a:prstGeom>
          <a:solidFill>
            <a:srgbClr val="EBF5FB"/>
          </a:solidFill>
          <a:ln w="12700">
            <a:solidFill>
              <a:srgbClr val="028090"/>
            </a:solidFill>
            <a:prstDash val="solid"/>
          </a:ln>
        </p:spPr>
        <p:txBody>
          <a:bodyPr/>
          <a:lstStyle/>
          <a:p>
            <a:endParaRPr lang="en-US"/>
          </a:p>
        </p:txBody>
      </p:sp>
      <p:sp>
        <p:nvSpPr>
          <p:cNvPr id="10" name="Text 8"/>
          <p:cNvSpPr/>
          <p:nvPr/>
        </p:nvSpPr>
        <p:spPr>
          <a:xfrm>
            <a:off x="457200" y="1097280"/>
            <a:ext cx="8229600" cy="502920"/>
          </a:xfrm>
          <a:prstGeom prst="rect">
            <a:avLst/>
          </a:prstGeom>
          <a:noFill/>
          <a:ln/>
        </p:spPr>
        <p:txBody>
          <a:bodyPr wrap="square" lIns="0" tIns="0" rIns="0" bIns="0" rtlCol="0" anchor="ctr"/>
          <a:lstStyle/>
          <a:p>
            <a:pPr marL="0" indent="0">
              <a:buNone/>
            </a:pPr>
            <a:r>
              <a:rPr lang="en-US" sz="1100" i="1" dirty="0">
                <a:solidFill>
                  <a:srgbClr val="1B2A4A"/>
                </a:solidFill>
                <a:latin typeface="Calibri" pitchFamily="34" charset="0"/>
                <a:ea typeface="Calibri" pitchFamily="34" charset="-122"/>
                <a:cs typeface="Calibri" pitchFamily="34" charset="-120"/>
              </a:rPr>
              <a:t>Hypothesis: Men will report significantly higher economic optimism than women (lower GOODLIFE score = more optimistic)</a:t>
            </a:r>
            <a:endParaRPr lang="en-US" sz="1100" dirty="0"/>
          </a:p>
        </p:txBody>
      </p:sp>
      <p:sp>
        <p:nvSpPr>
          <p:cNvPr id="11" name="Shape 9"/>
          <p:cNvSpPr/>
          <p:nvPr/>
        </p:nvSpPr>
        <p:spPr>
          <a:xfrm>
            <a:off x="365760" y="1737360"/>
            <a:ext cx="3657600" cy="1920240"/>
          </a:xfrm>
          <a:prstGeom prst="rect">
            <a:avLst/>
          </a:prstGeom>
          <a:solidFill>
            <a:srgbClr val="1B2A4A"/>
          </a:solidFill>
          <a:ln w="12700">
            <a:solidFill>
              <a:srgbClr val="1B2A4A"/>
            </a:solidFill>
            <a:prstDash val="solid"/>
          </a:ln>
        </p:spPr>
        <p:txBody>
          <a:bodyPr/>
          <a:lstStyle/>
          <a:p>
            <a:endParaRPr lang="en-US"/>
          </a:p>
        </p:txBody>
      </p:sp>
      <p:sp>
        <p:nvSpPr>
          <p:cNvPr id="12" name="Text 10"/>
          <p:cNvSpPr/>
          <p:nvPr/>
        </p:nvSpPr>
        <p:spPr>
          <a:xfrm>
            <a:off x="365760" y="1737360"/>
            <a:ext cx="3657600" cy="411480"/>
          </a:xfrm>
          <a:prstGeom prst="rect">
            <a:avLst/>
          </a:prstGeom>
          <a:noFill/>
          <a:ln/>
        </p:spPr>
        <p:txBody>
          <a:bodyPr wrap="square" lIns="0" tIns="0" rIns="0" bIns="0" rtlCol="0" anchor="ctr"/>
          <a:lstStyle/>
          <a:p>
            <a:pPr marL="0" indent="0" algn="ctr">
              <a:buNone/>
            </a:pPr>
            <a:r>
              <a:rPr lang="en-US" sz="1500" b="1" dirty="0">
                <a:solidFill>
                  <a:srgbClr val="02A4B0"/>
                </a:solidFill>
                <a:latin typeface="Calibri" pitchFamily="34" charset="0"/>
                <a:ea typeface="Calibri" pitchFamily="34" charset="-122"/>
                <a:cs typeface="Calibri" pitchFamily="34" charset="-120"/>
              </a:rPr>
              <a:t>MALE</a:t>
            </a:r>
            <a:endParaRPr lang="en-US" sz="1500" dirty="0"/>
          </a:p>
        </p:txBody>
      </p:sp>
      <p:sp>
        <p:nvSpPr>
          <p:cNvPr id="13" name="Text 11"/>
          <p:cNvSpPr/>
          <p:nvPr/>
        </p:nvSpPr>
        <p:spPr>
          <a:xfrm>
            <a:off x="365760" y="2103120"/>
            <a:ext cx="3657600" cy="731520"/>
          </a:xfrm>
          <a:prstGeom prst="rect">
            <a:avLst/>
          </a:prstGeom>
          <a:noFill/>
          <a:ln/>
        </p:spPr>
        <p:txBody>
          <a:bodyPr wrap="square" lIns="0" tIns="0" rIns="0" bIns="0" rtlCol="0" anchor="ctr"/>
          <a:lstStyle/>
          <a:p>
            <a:pPr marL="0" indent="0" algn="ctr">
              <a:buNone/>
            </a:pPr>
            <a:r>
              <a:rPr lang="en-US" sz="5200" b="1" dirty="0">
                <a:solidFill>
                  <a:srgbClr val="E8A838"/>
                </a:solidFill>
                <a:latin typeface="Calibri" pitchFamily="34" charset="0"/>
                <a:ea typeface="Calibri" pitchFamily="34" charset="-122"/>
                <a:cs typeface="Calibri" pitchFamily="34" charset="-120"/>
              </a:rPr>
              <a:t>2.43</a:t>
            </a:r>
            <a:endParaRPr lang="en-US" sz="5200" dirty="0"/>
          </a:p>
        </p:txBody>
      </p:sp>
      <p:sp>
        <p:nvSpPr>
          <p:cNvPr id="14" name="Text 12"/>
          <p:cNvSpPr/>
          <p:nvPr/>
        </p:nvSpPr>
        <p:spPr>
          <a:xfrm>
            <a:off x="365760" y="2788920"/>
            <a:ext cx="36576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Mean GOODLIFE Score</a:t>
            </a:r>
            <a:endParaRPr lang="en-US" sz="1000" dirty="0"/>
          </a:p>
        </p:txBody>
      </p:sp>
      <p:sp>
        <p:nvSpPr>
          <p:cNvPr id="15" name="Text 13"/>
          <p:cNvSpPr/>
          <p:nvPr/>
        </p:nvSpPr>
        <p:spPr>
          <a:xfrm>
            <a:off x="365760" y="3063240"/>
            <a:ext cx="365760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N = 12,796  ·  SD = 1.07</a:t>
            </a:r>
            <a:endParaRPr lang="en-US" sz="1000" dirty="0"/>
          </a:p>
        </p:txBody>
      </p:sp>
      <p:sp>
        <p:nvSpPr>
          <p:cNvPr id="16" name="Text 14"/>
          <p:cNvSpPr/>
          <p:nvPr/>
        </p:nvSpPr>
        <p:spPr>
          <a:xfrm>
            <a:off x="365760" y="3337560"/>
            <a:ext cx="3657600" cy="274320"/>
          </a:xfrm>
          <a:prstGeom prst="rect">
            <a:avLst/>
          </a:prstGeom>
          <a:noFill/>
          <a:ln/>
        </p:spPr>
        <p:txBody>
          <a:bodyPr wrap="square" lIns="0" tIns="0" rIns="0" bIns="0" rtlCol="0" anchor="ctr"/>
          <a:lstStyle/>
          <a:p>
            <a:pPr marL="0" indent="0" algn="ctr">
              <a:buNone/>
            </a:pPr>
            <a:r>
              <a:rPr lang="en-US" sz="900" b="1" dirty="0">
                <a:solidFill>
                  <a:srgbClr val="02A4B0"/>
                </a:solidFill>
                <a:latin typeface="Calibri" pitchFamily="34" charset="0"/>
                <a:ea typeface="Calibri" pitchFamily="34" charset="-122"/>
                <a:cs typeface="Calibri" pitchFamily="34" charset="-120"/>
              </a:rPr>
              <a:t>MORE OPTIMISTIC →</a:t>
            </a:r>
            <a:endParaRPr lang="en-US" sz="900" dirty="0"/>
          </a:p>
        </p:txBody>
      </p:sp>
      <p:sp>
        <p:nvSpPr>
          <p:cNvPr id="17" name="Shape 15"/>
          <p:cNvSpPr/>
          <p:nvPr/>
        </p:nvSpPr>
        <p:spPr>
          <a:xfrm>
            <a:off x="4389120" y="1737360"/>
            <a:ext cx="3657600" cy="1920240"/>
          </a:xfrm>
          <a:prstGeom prst="rect">
            <a:avLst/>
          </a:prstGeom>
          <a:solidFill>
            <a:srgbClr val="36454F"/>
          </a:solidFill>
          <a:ln w="12700">
            <a:solidFill>
              <a:srgbClr val="36454F"/>
            </a:solidFill>
            <a:prstDash val="solid"/>
          </a:ln>
        </p:spPr>
        <p:txBody>
          <a:bodyPr/>
          <a:lstStyle/>
          <a:p>
            <a:endParaRPr lang="en-US"/>
          </a:p>
        </p:txBody>
      </p:sp>
      <p:sp>
        <p:nvSpPr>
          <p:cNvPr id="18" name="Text 16"/>
          <p:cNvSpPr/>
          <p:nvPr/>
        </p:nvSpPr>
        <p:spPr>
          <a:xfrm>
            <a:off x="4389120" y="1737360"/>
            <a:ext cx="3657600" cy="411480"/>
          </a:xfrm>
          <a:prstGeom prst="rect">
            <a:avLst/>
          </a:prstGeom>
          <a:noFill/>
          <a:ln/>
        </p:spPr>
        <p:txBody>
          <a:bodyPr wrap="square" lIns="0" tIns="0" rIns="0" bIns="0" rtlCol="0" anchor="ctr"/>
          <a:lstStyle/>
          <a:p>
            <a:pPr marL="0" indent="0" algn="ctr">
              <a:buNone/>
            </a:pPr>
            <a:r>
              <a:rPr lang="en-US" sz="1500" b="1" dirty="0">
                <a:solidFill>
                  <a:srgbClr val="E2E8F0"/>
                </a:solidFill>
                <a:latin typeface="Calibri" pitchFamily="34" charset="0"/>
                <a:ea typeface="Calibri" pitchFamily="34" charset="-122"/>
                <a:cs typeface="Calibri" pitchFamily="34" charset="-120"/>
              </a:rPr>
              <a:t>FEMALE</a:t>
            </a:r>
            <a:endParaRPr lang="en-US" sz="1500" dirty="0"/>
          </a:p>
        </p:txBody>
      </p:sp>
      <p:sp>
        <p:nvSpPr>
          <p:cNvPr id="19" name="Text 17"/>
          <p:cNvSpPr/>
          <p:nvPr/>
        </p:nvSpPr>
        <p:spPr>
          <a:xfrm>
            <a:off x="4389120" y="2103120"/>
            <a:ext cx="3657600" cy="731520"/>
          </a:xfrm>
          <a:prstGeom prst="rect">
            <a:avLst/>
          </a:prstGeom>
          <a:noFill/>
          <a:ln/>
        </p:spPr>
        <p:txBody>
          <a:bodyPr wrap="square" lIns="0" tIns="0" rIns="0" bIns="0" rtlCol="0" anchor="ctr"/>
          <a:lstStyle/>
          <a:p>
            <a:pPr marL="0" indent="0" algn="ctr">
              <a:buNone/>
            </a:pPr>
            <a:r>
              <a:rPr lang="en-US" sz="5200" b="1" dirty="0">
                <a:solidFill>
                  <a:srgbClr val="F8766D"/>
                </a:solidFill>
                <a:latin typeface="Calibri" pitchFamily="34" charset="0"/>
                <a:ea typeface="Calibri" pitchFamily="34" charset="-122"/>
                <a:cs typeface="Calibri" pitchFamily="34" charset="-120"/>
              </a:rPr>
              <a:t>2.58</a:t>
            </a:r>
            <a:endParaRPr lang="en-US" sz="5200" dirty="0"/>
          </a:p>
        </p:txBody>
      </p:sp>
      <p:sp>
        <p:nvSpPr>
          <p:cNvPr id="20" name="Text 18"/>
          <p:cNvSpPr/>
          <p:nvPr/>
        </p:nvSpPr>
        <p:spPr>
          <a:xfrm>
            <a:off x="4389120" y="2788920"/>
            <a:ext cx="3657600"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Mean GOODLIFE Score</a:t>
            </a:r>
            <a:endParaRPr lang="en-US" sz="1000" dirty="0"/>
          </a:p>
        </p:txBody>
      </p:sp>
      <p:sp>
        <p:nvSpPr>
          <p:cNvPr id="21" name="Text 19"/>
          <p:cNvSpPr/>
          <p:nvPr/>
        </p:nvSpPr>
        <p:spPr>
          <a:xfrm>
            <a:off x="4389120" y="3063240"/>
            <a:ext cx="3657600" cy="274320"/>
          </a:xfrm>
          <a:prstGeom prst="rect">
            <a:avLst/>
          </a:prstGeom>
          <a:noFill/>
          <a:ln/>
        </p:spPr>
        <p:txBody>
          <a:bodyPr wrap="square" lIns="0" tIns="0" rIns="0" bIns="0"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N = 15,934  ·  SD = 1.10</a:t>
            </a:r>
            <a:endParaRPr lang="en-US" sz="1000" dirty="0"/>
          </a:p>
        </p:txBody>
      </p:sp>
      <p:sp>
        <p:nvSpPr>
          <p:cNvPr id="22" name="Text 20"/>
          <p:cNvSpPr/>
          <p:nvPr/>
        </p:nvSpPr>
        <p:spPr>
          <a:xfrm>
            <a:off x="4389120" y="3337560"/>
            <a:ext cx="3657600" cy="274320"/>
          </a:xfrm>
          <a:prstGeom prst="rect">
            <a:avLst/>
          </a:prstGeom>
          <a:noFill/>
          <a:ln/>
        </p:spPr>
        <p:txBody>
          <a:bodyPr wrap="square" lIns="0" tIns="0" rIns="0" bIns="0" rtlCol="0" anchor="ctr"/>
          <a:lstStyle/>
          <a:p>
            <a:pPr marL="0" indent="0" algn="ctr">
              <a:buNone/>
            </a:pPr>
            <a:r>
              <a:rPr lang="en-US" sz="900" b="1" dirty="0">
                <a:solidFill>
                  <a:srgbClr val="F8766D"/>
                </a:solidFill>
                <a:latin typeface="Calibri" pitchFamily="34" charset="0"/>
                <a:ea typeface="Calibri" pitchFamily="34" charset="-122"/>
                <a:cs typeface="Calibri" pitchFamily="34" charset="-120"/>
              </a:rPr>
              <a:t>LESS OPTIMISTIC ←</a:t>
            </a:r>
            <a:endParaRPr lang="en-US" sz="900" dirty="0"/>
          </a:p>
        </p:txBody>
      </p:sp>
      <p:sp>
        <p:nvSpPr>
          <p:cNvPr id="23" name="Shape 21"/>
          <p:cNvSpPr/>
          <p:nvPr/>
        </p:nvSpPr>
        <p:spPr>
          <a:xfrm>
            <a:off x="365760" y="3840480"/>
            <a:ext cx="8412480" cy="594360"/>
          </a:xfrm>
          <a:prstGeom prst="rect">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457200" y="3840480"/>
            <a:ext cx="822960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HYPOTHESIS SUPPORTED  ·  t(28,278) = 11.65, p &lt; .001  ·  Cohen's d = 0.14 (small but reliable effect)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2: Education and the Persistent Gender Gap</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Two-Way ANOVA  ·  Gender × Education Interaction Effect</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4</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365760" y="1097280"/>
            <a:ext cx="8412480" cy="548640"/>
          </a:xfrm>
          <a:prstGeom prst="rect">
            <a:avLst/>
          </a:prstGeom>
          <a:solidFill>
            <a:srgbClr val="EBF5FB"/>
          </a:solidFill>
          <a:ln w="12700">
            <a:solidFill>
              <a:srgbClr val="028090"/>
            </a:solidFill>
            <a:prstDash val="solid"/>
          </a:ln>
        </p:spPr>
        <p:txBody>
          <a:bodyPr/>
          <a:lstStyle/>
          <a:p>
            <a:endParaRPr lang="en-US"/>
          </a:p>
        </p:txBody>
      </p:sp>
      <p:sp>
        <p:nvSpPr>
          <p:cNvPr id="10" name="Text 8"/>
          <p:cNvSpPr/>
          <p:nvPr/>
        </p:nvSpPr>
        <p:spPr>
          <a:xfrm>
            <a:off x="457200" y="1097280"/>
            <a:ext cx="8229600" cy="548640"/>
          </a:xfrm>
          <a:prstGeom prst="rect">
            <a:avLst/>
          </a:prstGeom>
          <a:noFill/>
          <a:ln/>
        </p:spPr>
        <p:txBody>
          <a:bodyPr wrap="square" lIns="0" tIns="0" rIns="0" bIns="0" rtlCol="0" anchor="ctr"/>
          <a:lstStyle/>
          <a:p>
            <a:pPr marL="0" indent="0">
              <a:buNone/>
            </a:pPr>
            <a:r>
              <a:rPr lang="en-US" sz="1100" i="1" dirty="0">
                <a:solidFill>
                  <a:srgbClr val="1B2A4A"/>
                </a:solidFill>
                <a:latin typeface="Calibri" pitchFamily="34" charset="0"/>
                <a:ea typeface="Calibri" pitchFamily="34" charset="-122"/>
                <a:cs typeface="Calibri" pitchFamily="34" charset="-120"/>
              </a:rPr>
              <a:t>Key Finding: The gender gap is smallest at the lowest education tier (gap = 0.04) and widens through Jr. College, then stabilizes — persisting at the Graduate level</a:t>
            </a:r>
            <a:endParaRPr lang="en-US" sz="1100" dirty="0"/>
          </a:p>
        </p:txBody>
      </p:sp>
      <p:sp>
        <p:nvSpPr>
          <p:cNvPr id="11" name="Text 9"/>
          <p:cNvSpPr/>
          <p:nvPr/>
        </p:nvSpPr>
        <p:spPr>
          <a:xfrm>
            <a:off x="365760" y="1783080"/>
            <a:ext cx="8412480" cy="32004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F(4, 28667) = 4.18, p = .002  →  Significant interaction: the effect of education on optimism depends on gender</a:t>
            </a:r>
            <a:endParaRPr lang="en-US" sz="1100" dirty="0"/>
          </a:p>
        </p:txBody>
      </p:sp>
      <p:sp>
        <p:nvSpPr>
          <p:cNvPr id="12" name="Shape 10"/>
          <p:cNvSpPr/>
          <p:nvPr/>
        </p:nvSpPr>
        <p:spPr>
          <a:xfrm>
            <a:off x="914400" y="3272790"/>
            <a:ext cx="640080" cy="70485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914400" y="3044190"/>
            <a:ext cx="640080" cy="228600"/>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2.46</a:t>
            </a:r>
            <a:endParaRPr lang="en-US" sz="900" dirty="0"/>
          </a:p>
        </p:txBody>
      </p:sp>
      <p:sp>
        <p:nvSpPr>
          <p:cNvPr id="14" name="Shape 12"/>
          <p:cNvSpPr/>
          <p:nvPr/>
        </p:nvSpPr>
        <p:spPr>
          <a:xfrm>
            <a:off x="1627632" y="3160014"/>
            <a:ext cx="640080" cy="817626"/>
          </a:xfrm>
          <a:prstGeom prst="rect">
            <a:avLst/>
          </a:prstGeom>
          <a:solidFill>
            <a:srgbClr val="E8756A"/>
          </a:solidFill>
          <a:ln w="12700">
            <a:solidFill>
              <a:srgbClr val="E8756A"/>
            </a:solidFill>
            <a:prstDash val="solid"/>
          </a:ln>
        </p:spPr>
        <p:txBody>
          <a:bodyPr/>
          <a:lstStyle/>
          <a:p>
            <a:endParaRPr lang="en-US"/>
          </a:p>
        </p:txBody>
      </p:sp>
      <p:sp>
        <p:nvSpPr>
          <p:cNvPr id="15" name="Text 13"/>
          <p:cNvSpPr/>
          <p:nvPr/>
        </p:nvSpPr>
        <p:spPr>
          <a:xfrm>
            <a:off x="1627632" y="2931414"/>
            <a:ext cx="640080" cy="228600"/>
          </a:xfrm>
          <a:prstGeom prst="rect">
            <a:avLst/>
          </a:prstGeom>
          <a:noFill/>
          <a:ln/>
        </p:spPr>
        <p:txBody>
          <a:bodyPr wrap="square" lIns="0" tIns="0" rIns="0" bIns="0" rtlCol="0" anchor="ctr"/>
          <a:lstStyle/>
          <a:p>
            <a:pPr marL="0" indent="0" algn="ctr">
              <a:buNone/>
            </a:pPr>
            <a:r>
              <a:rPr lang="en-US" sz="900" b="1" dirty="0">
                <a:solidFill>
                  <a:srgbClr val="E8756A"/>
                </a:solidFill>
                <a:latin typeface="Calibri" pitchFamily="34" charset="0"/>
                <a:ea typeface="Calibri" pitchFamily="34" charset="-122"/>
                <a:cs typeface="Calibri" pitchFamily="34" charset="-120"/>
              </a:rPr>
              <a:t>2.49</a:t>
            </a:r>
            <a:endParaRPr lang="en-US" sz="900" dirty="0"/>
          </a:p>
        </p:txBody>
      </p:sp>
      <p:sp>
        <p:nvSpPr>
          <p:cNvPr id="16" name="Text 14"/>
          <p:cNvSpPr/>
          <p:nvPr/>
        </p:nvSpPr>
        <p:spPr>
          <a:xfrm>
            <a:off x="914400" y="4023360"/>
            <a:ext cx="1353312"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LT High Sch.</a:t>
            </a:r>
            <a:endParaRPr lang="en-US" sz="900" dirty="0"/>
          </a:p>
        </p:txBody>
      </p:sp>
      <p:sp>
        <p:nvSpPr>
          <p:cNvPr id="17" name="Shape 15"/>
          <p:cNvSpPr/>
          <p:nvPr/>
        </p:nvSpPr>
        <p:spPr>
          <a:xfrm>
            <a:off x="2404872" y="3244596"/>
            <a:ext cx="640080" cy="733044"/>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2404872" y="3015996"/>
            <a:ext cx="640080" cy="228600"/>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2.46</a:t>
            </a:r>
            <a:endParaRPr lang="en-US" sz="900" dirty="0"/>
          </a:p>
        </p:txBody>
      </p:sp>
      <p:sp>
        <p:nvSpPr>
          <p:cNvPr id="19" name="Shape 17"/>
          <p:cNvSpPr/>
          <p:nvPr/>
        </p:nvSpPr>
        <p:spPr>
          <a:xfrm>
            <a:off x="3118104" y="2708910"/>
            <a:ext cx="640080" cy="1268730"/>
          </a:xfrm>
          <a:prstGeom prst="rect">
            <a:avLst/>
          </a:prstGeom>
          <a:solidFill>
            <a:srgbClr val="E8756A"/>
          </a:solidFill>
          <a:ln w="12700">
            <a:solidFill>
              <a:srgbClr val="E8756A"/>
            </a:solidFill>
            <a:prstDash val="solid"/>
          </a:ln>
        </p:spPr>
        <p:txBody>
          <a:bodyPr/>
          <a:lstStyle/>
          <a:p>
            <a:endParaRPr lang="en-US"/>
          </a:p>
        </p:txBody>
      </p:sp>
      <p:sp>
        <p:nvSpPr>
          <p:cNvPr id="20" name="Text 18"/>
          <p:cNvSpPr/>
          <p:nvPr/>
        </p:nvSpPr>
        <p:spPr>
          <a:xfrm>
            <a:off x="3118104" y="2480310"/>
            <a:ext cx="640080" cy="228600"/>
          </a:xfrm>
          <a:prstGeom prst="rect">
            <a:avLst/>
          </a:prstGeom>
          <a:noFill/>
          <a:ln/>
        </p:spPr>
        <p:txBody>
          <a:bodyPr wrap="square" lIns="0" tIns="0" rIns="0" bIns="0" rtlCol="0" anchor="ctr"/>
          <a:lstStyle/>
          <a:p>
            <a:pPr marL="0" indent="0" algn="ctr">
              <a:buNone/>
            </a:pPr>
            <a:r>
              <a:rPr lang="en-US" sz="900" b="1" dirty="0">
                <a:solidFill>
                  <a:srgbClr val="E8756A"/>
                </a:solidFill>
                <a:latin typeface="Calibri" pitchFamily="34" charset="0"/>
                <a:ea typeface="Calibri" pitchFamily="34" charset="-122"/>
                <a:cs typeface="Calibri" pitchFamily="34" charset="-120"/>
              </a:rPr>
              <a:t>2.65</a:t>
            </a:r>
            <a:endParaRPr lang="en-US" sz="900" dirty="0"/>
          </a:p>
        </p:txBody>
      </p:sp>
      <p:sp>
        <p:nvSpPr>
          <p:cNvPr id="21" name="Text 19"/>
          <p:cNvSpPr/>
          <p:nvPr/>
        </p:nvSpPr>
        <p:spPr>
          <a:xfrm>
            <a:off x="2404872" y="4023360"/>
            <a:ext cx="1353312"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High School</a:t>
            </a:r>
            <a:endParaRPr lang="en-US" sz="900" dirty="0"/>
          </a:p>
        </p:txBody>
      </p:sp>
      <p:sp>
        <p:nvSpPr>
          <p:cNvPr id="22" name="Shape 20"/>
          <p:cNvSpPr/>
          <p:nvPr/>
        </p:nvSpPr>
        <p:spPr>
          <a:xfrm>
            <a:off x="3895344" y="3188208"/>
            <a:ext cx="640080" cy="789432"/>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3895344" y="2959608"/>
            <a:ext cx="640080" cy="228600"/>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2.43</a:t>
            </a:r>
            <a:endParaRPr lang="en-US" sz="900" dirty="0"/>
          </a:p>
        </p:txBody>
      </p:sp>
      <p:sp>
        <p:nvSpPr>
          <p:cNvPr id="24" name="Shape 22"/>
          <p:cNvSpPr/>
          <p:nvPr/>
        </p:nvSpPr>
        <p:spPr>
          <a:xfrm>
            <a:off x="4608576" y="2765298"/>
            <a:ext cx="640080" cy="1212342"/>
          </a:xfrm>
          <a:prstGeom prst="rect">
            <a:avLst/>
          </a:prstGeom>
          <a:solidFill>
            <a:srgbClr val="E8756A"/>
          </a:solidFill>
          <a:ln w="12700">
            <a:solidFill>
              <a:srgbClr val="E8756A"/>
            </a:solidFill>
            <a:prstDash val="solid"/>
          </a:ln>
        </p:spPr>
        <p:txBody>
          <a:bodyPr/>
          <a:lstStyle/>
          <a:p>
            <a:endParaRPr lang="en-US"/>
          </a:p>
        </p:txBody>
      </p:sp>
      <p:sp>
        <p:nvSpPr>
          <p:cNvPr id="25" name="Text 23"/>
          <p:cNvSpPr/>
          <p:nvPr/>
        </p:nvSpPr>
        <p:spPr>
          <a:xfrm>
            <a:off x="4608576" y="2536698"/>
            <a:ext cx="640080" cy="228600"/>
          </a:xfrm>
          <a:prstGeom prst="rect">
            <a:avLst/>
          </a:prstGeom>
          <a:noFill/>
          <a:ln/>
        </p:spPr>
        <p:txBody>
          <a:bodyPr wrap="square" lIns="0" tIns="0" rIns="0" bIns="0" rtlCol="0" anchor="ctr"/>
          <a:lstStyle/>
          <a:p>
            <a:pPr marL="0" indent="0" algn="ctr">
              <a:buNone/>
            </a:pPr>
            <a:r>
              <a:rPr lang="en-US" sz="900" b="1" dirty="0">
                <a:solidFill>
                  <a:srgbClr val="E8756A"/>
                </a:solidFill>
                <a:latin typeface="Calibri" pitchFamily="34" charset="0"/>
                <a:ea typeface="Calibri" pitchFamily="34" charset="-122"/>
                <a:cs typeface="Calibri" pitchFamily="34" charset="-120"/>
              </a:rPr>
              <a:t>2.65</a:t>
            </a:r>
            <a:endParaRPr lang="en-US" sz="900" dirty="0"/>
          </a:p>
        </p:txBody>
      </p:sp>
      <p:sp>
        <p:nvSpPr>
          <p:cNvPr id="26" name="Text 24"/>
          <p:cNvSpPr/>
          <p:nvPr/>
        </p:nvSpPr>
        <p:spPr>
          <a:xfrm>
            <a:off x="3895344" y="4023360"/>
            <a:ext cx="1353312"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Jr. College</a:t>
            </a:r>
            <a:endParaRPr lang="en-US" sz="900" dirty="0"/>
          </a:p>
        </p:txBody>
      </p:sp>
      <p:sp>
        <p:nvSpPr>
          <p:cNvPr id="27" name="Shape 25"/>
          <p:cNvSpPr/>
          <p:nvPr/>
        </p:nvSpPr>
        <p:spPr>
          <a:xfrm>
            <a:off x="5385816" y="3526536"/>
            <a:ext cx="640080" cy="451104"/>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5385816" y="3297936"/>
            <a:ext cx="640080" cy="228600"/>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2.32</a:t>
            </a:r>
            <a:endParaRPr lang="en-US" sz="900" dirty="0"/>
          </a:p>
        </p:txBody>
      </p:sp>
      <p:sp>
        <p:nvSpPr>
          <p:cNvPr id="29" name="Shape 27"/>
          <p:cNvSpPr/>
          <p:nvPr/>
        </p:nvSpPr>
        <p:spPr>
          <a:xfrm>
            <a:off x="6099048" y="3103626"/>
            <a:ext cx="640080" cy="874014"/>
          </a:xfrm>
          <a:prstGeom prst="rect">
            <a:avLst/>
          </a:prstGeom>
          <a:solidFill>
            <a:srgbClr val="E8756A"/>
          </a:solidFill>
          <a:ln w="12700">
            <a:solidFill>
              <a:srgbClr val="E8756A"/>
            </a:solidFill>
            <a:prstDash val="solid"/>
          </a:ln>
        </p:spPr>
        <p:txBody>
          <a:bodyPr/>
          <a:lstStyle/>
          <a:p>
            <a:endParaRPr lang="en-US"/>
          </a:p>
        </p:txBody>
      </p:sp>
      <p:sp>
        <p:nvSpPr>
          <p:cNvPr id="30" name="Text 28"/>
          <p:cNvSpPr/>
          <p:nvPr/>
        </p:nvSpPr>
        <p:spPr>
          <a:xfrm>
            <a:off x="6099048" y="2875026"/>
            <a:ext cx="640080" cy="228600"/>
          </a:xfrm>
          <a:prstGeom prst="rect">
            <a:avLst/>
          </a:prstGeom>
          <a:noFill/>
          <a:ln/>
        </p:spPr>
        <p:txBody>
          <a:bodyPr wrap="square" lIns="0" tIns="0" rIns="0" bIns="0" rtlCol="0" anchor="ctr"/>
          <a:lstStyle/>
          <a:p>
            <a:pPr marL="0" indent="0" algn="ctr">
              <a:buNone/>
            </a:pPr>
            <a:r>
              <a:rPr lang="en-US" sz="900" b="1" dirty="0">
                <a:solidFill>
                  <a:srgbClr val="E8756A"/>
                </a:solidFill>
                <a:latin typeface="Calibri" pitchFamily="34" charset="0"/>
                <a:ea typeface="Calibri" pitchFamily="34" charset="-122"/>
                <a:cs typeface="Calibri" pitchFamily="34" charset="-120"/>
              </a:rPr>
              <a:t>2.51</a:t>
            </a:r>
            <a:endParaRPr lang="en-US" sz="900" dirty="0"/>
          </a:p>
        </p:txBody>
      </p:sp>
      <p:sp>
        <p:nvSpPr>
          <p:cNvPr id="31" name="Text 29"/>
          <p:cNvSpPr/>
          <p:nvPr/>
        </p:nvSpPr>
        <p:spPr>
          <a:xfrm>
            <a:off x="5385816" y="4023360"/>
            <a:ext cx="1353312"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Bachelor</a:t>
            </a:r>
            <a:endParaRPr lang="en-US" sz="900" dirty="0"/>
          </a:p>
        </p:txBody>
      </p:sp>
      <p:sp>
        <p:nvSpPr>
          <p:cNvPr id="32" name="Shape 30"/>
          <p:cNvSpPr/>
          <p:nvPr/>
        </p:nvSpPr>
        <p:spPr>
          <a:xfrm>
            <a:off x="6876288" y="3639312"/>
            <a:ext cx="640080" cy="338328"/>
          </a:xfrm>
          <a:prstGeom prst="rect">
            <a:avLst/>
          </a:prstGeom>
          <a:solidFill>
            <a:srgbClr val="028090"/>
          </a:solidFill>
          <a:ln w="12700">
            <a:solidFill>
              <a:srgbClr val="028090"/>
            </a:solidFill>
            <a:prstDash val="solid"/>
          </a:ln>
        </p:spPr>
        <p:txBody>
          <a:bodyPr/>
          <a:lstStyle/>
          <a:p>
            <a:endParaRPr lang="en-US"/>
          </a:p>
        </p:txBody>
      </p:sp>
      <p:sp>
        <p:nvSpPr>
          <p:cNvPr id="33" name="Text 31"/>
          <p:cNvSpPr/>
          <p:nvPr/>
        </p:nvSpPr>
        <p:spPr>
          <a:xfrm>
            <a:off x="6876288" y="3410712"/>
            <a:ext cx="640080" cy="228600"/>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2.32</a:t>
            </a:r>
            <a:endParaRPr lang="en-US" sz="900" dirty="0"/>
          </a:p>
        </p:txBody>
      </p:sp>
      <p:sp>
        <p:nvSpPr>
          <p:cNvPr id="34" name="Shape 32"/>
          <p:cNvSpPr/>
          <p:nvPr/>
        </p:nvSpPr>
        <p:spPr>
          <a:xfrm>
            <a:off x="7589520" y="3075432"/>
            <a:ext cx="640080" cy="902208"/>
          </a:xfrm>
          <a:prstGeom prst="rect">
            <a:avLst/>
          </a:prstGeom>
          <a:solidFill>
            <a:srgbClr val="E8756A"/>
          </a:solidFill>
          <a:ln w="12700">
            <a:solidFill>
              <a:srgbClr val="E8756A"/>
            </a:solidFill>
            <a:prstDash val="solid"/>
          </a:ln>
        </p:spPr>
        <p:txBody>
          <a:bodyPr/>
          <a:lstStyle/>
          <a:p>
            <a:endParaRPr lang="en-US"/>
          </a:p>
        </p:txBody>
      </p:sp>
      <p:sp>
        <p:nvSpPr>
          <p:cNvPr id="35" name="Text 33"/>
          <p:cNvSpPr/>
          <p:nvPr/>
        </p:nvSpPr>
        <p:spPr>
          <a:xfrm>
            <a:off x="7589520" y="2846832"/>
            <a:ext cx="640080" cy="228600"/>
          </a:xfrm>
          <a:prstGeom prst="rect">
            <a:avLst/>
          </a:prstGeom>
          <a:noFill/>
          <a:ln/>
        </p:spPr>
        <p:txBody>
          <a:bodyPr wrap="square" lIns="0" tIns="0" rIns="0" bIns="0" rtlCol="0" anchor="ctr"/>
          <a:lstStyle/>
          <a:p>
            <a:pPr marL="0" indent="0" algn="ctr">
              <a:buNone/>
            </a:pPr>
            <a:r>
              <a:rPr lang="en-US" sz="900" b="1" dirty="0">
                <a:solidFill>
                  <a:srgbClr val="E8756A"/>
                </a:solidFill>
                <a:latin typeface="Calibri" pitchFamily="34" charset="0"/>
                <a:ea typeface="Calibri" pitchFamily="34" charset="-122"/>
                <a:cs typeface="Calibri" pitchFamily="34" charset="-120"/>
              </a:rPr>
              <a:t>2.52</a:t>
            </a:r>
            <a:endParaRPr lang="en-US" sz="900" dirty="0"/>
          </a:p>
        </p:txBody>
      </p:sp>
      <p:sp>
        <p:nvSpPr>
          <p:cNvPr id="36" name="Text 34"/>
          <p:cNvSpPr/>
          <p:nvPr/>
        </p:nvSpPr>
        <p:spPr>
          <a:xfrm>
            <a:off x="6876288" y="4023360"/>
            <a:ext cx="1353312"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Graduate</a:t>
            </a:r>
            <a:endParaRPr lang="en-US" sz="900" dirty="0"/>
          </a:p>
        </p:txBody>
      </p:sp>
      <p:sp>
        <p:nvSpPr>
          <p:cNvPr id="37" name="Shape 35"/>
          <p:cNvSpPr/>
          <p:nvPr/>
        </p:nvSpPr>
        <p:spPr>
          <a:xfrm>
            <a:off x="457200" y="3977640"/>
            <a:ext cx="8229600" cy="0"/>
          </a:xfrm>
          <a:prstGeom prst="line">
            <a:avLst/>
          </a:prstGeom>
          <a:noFill/>
          <a:ln w="12700">
            <a:solidFill>
              <a:srgbClr val="1B2A4A"/>
            </a:solidFill>
            <a:prstDash val="solid"/>
          </a:ln>
        </p:spPr>
        <p:txBody>
          <a:bodyPr/>
          <a:lstStyle/>
          <a:p>
            <a:endParaRPr lang="en-US"/>
          </a:p>
        </p:txBody>
      </p:sp>
      <p:sp>
        <p:nvSpPr>
          <p:cNvPr id="38" name="Shape 36"/>
          <p:cNvSpPr/>
          <p:nvPr/>
        </p:nvSpPr>
        <p:spPr>
          <a:xfrm>
            <a:off x="457200" y="2331720"/>
            <a:ext cx="228600" cy="164592"/>
          </a:xfrm>
          <a:prstGeom prst="rect">
            <a:avLst/>
          </a:prstGeom>
          <a:solidFill>
            <a:srgbClr val="028090"/>
          </a:solidFill>
          <a:ln w="12700">
            <a:solidFill>
              <a:srgbClr val="028090"/>
            </a:solidFill>
            <a:prstDash val="solid"/>
          </a:ln>
        </p:spPr>
        <p:txBody>
          <a:bodyPr/>
          <a:lstStyle/>
          <a:p>
            <a:endParaRPr lang="en-US"/>
          </a:p>
        </p:txBody>
      </p:sp>
      <p:sp>
        <p:nvSpPr>
          <p:cNvPr id="39" name="Text 37"/>
          <p:cNvSpPr/>
          <p:nvPr/>
        </p:nvSpPr>
        <p:spPr>
          <a:xfrm>
            <a:off x="731520" y="2304288"/>
            <a:ext cx="914400" cy="201168"/>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Male</a:t>
            </a:r>
            <a:endParaRPr lang="en-US" sz="1000" dirty="0"/>
          </a:p>
        </p:txBody>
      </p:sp>
      <p:sp>
        <p:nvSpPr>
          <p:cNvPr id="40" name="Shape 38"/>
          <p:cNvSpPr/>
          <p:nvPr/>
        </p:nvSpPr>
        <p:spPr>
          <a:xfrm>
            <a:off x="1463040" y="2331720"/>
            <a:ext cx="228600" cy="164592"/>
          </a:xfrm>
          <a:prstGeom prst="rect">
            <a:avLst/>
          </a:prstGeom>
          <a:solidFill>
            <a:srgbClr val="E8756A"/>
          </a:solidFill>
          <a:ln w="12700">
            <a:solidFill>
              <a:srgbClr val="E8756A"/>
            </a:solidFill>
            <a:prstDash val="solid"/>
          </a:ln>
        </p:spPr>
        <p:txBody>
          <a:bodyPr/>
          <a:lstStyle/>
          <a:p>
            <a:endParaRPr lang="en-US"/>
          </a:p>
        </p:txBody>
      </p:sp>
      <p:sp>
        <p:nvSpPr>
          <p:cNvPr id="41" name="Text 39"/>
          <p:cNvSpPr/>
          <p:nvPr/>
        </p:nvSpPr>
        <p:spPr>
          <a:xfrm>
            <a:off x="1737360" y="2304288"/>
            <a:ext cx="1097280" cy="201168"/>
          </a:xfrm>
          <a:prstGeom prst="rect">
            <a:avLst/>
          </a:prstGeom>
          <a:noFill/>
          <a:ln/>
        </p:spPr>
        <p:txBody>
          <a:bodyPr wrap="square" lIns="0" tIns="0" rIns="0" bIns="0" rtlCol="0" anchor="ctr"/>
          <a:lstStyle/>
          <a:p>
            <a:pPr marL="0" indent="0">
              <a:buNone/>
            </a:pPr>
            <a:r>
              <a:rPr lang="en-US" sz="1000" dirty="0">
                <a:solidFill>
                  <a:srgbClr val="1B2A4A"/>
                </a:solidFill>
                <a:latin typeface="Calibri" pitchFamily="34" charset="0"/>
                <a:ea typeface="Calibri" pitchFamily="34" charset="-122"/>
                <a:cs typeface="Calibri" pitchFamily="34" charset="-120"/>
              </a:rPr>
              <a:t>Female</a:t>
            </a:r>
            <a:endParaRPr lang="en-US" sz="1000" dirty="0"/>
          </a:p>
        </p:txBody>
      </p:sp>
      <p:sp>
        <p:nvSpPr>
          <p:cNvPr id="42" name="Text 40"/>
          <p:cNvSpPr/>
          <p:nvPr/>
        </p:nvSpPr>
        <p:spPr>
          <a:xfrm>
            <a:off x="3017520" y="2304288"/>
            <a:ext cx="2743200" cy="201168"/>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(Lower score = more optimistic)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3: Macro-Economic Drivers of Life Expectancy</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Multiple Linear Regression  ·  World Development Indicators  ·  R² = 0.73</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5</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6675120" y="1143000"/>
            <a:ext cx="2103120" cy="1463040"/>
          </a:xfrm>
          <a:prstGeom prst="rect">
            <a:avLst/>
          </a:prstGeom>
          <a:solidFill>
            <a:srgbClr val="1B2A4A"/>
          </a:solidFill>
          <a:ln w="12700">
            <a:solidFill>
              <a:srgbClr val="1B2A4A"/>
            </a:solidFill>
            <a:prstDash val="solid"/>
          </a:ln>
        </p:spPr>
        <p:txBody>
          <a:bodyPr/>
          <a:lstStyle/>
          <a:p>
            <a:endParaRPr lang="en-US"/>
          </a:p>
        </p:txBody>
      </p:sp>
      <p:sp>
        <p:nvSpPr>
          <p:cNvPr id="10" name="Text 8"/>
          <p:cNvSpPr/>
          <p:nvPr/>
        </p:nvSpPr>
        <p:spPr>
          <a:xfrm>
            <a:off x="6675120" y="1143000"/>
            <a:ext cx="2103120" cy="502920"/>
          </a:xfrm>
          <a:prstGeom prst="rect">
            <a:avLst/>
          </a:prstGeom>
          <a:noFill/>
          <a:ln/>
        </p:spPr>
        <p:txBody>
          <a:bodyPr wrap="square" lIns="0" tIns="0" rIns="0" bIns="0" rtlCol="0" anchor="ctr"/>
          <a:lstStyle/>
          <a:p>
            <a:pPr marL="0" indent="0" algn="ctr">
              <a:buNone/>
            </a:pPr>
            <a:r>
              <a:rPr lang="en-US" sz="1800" b="1" dirty="0">
                <a:solidFill>
                  <a:srgbClr val="E2E8F0"/>
                </a:solidFill>
                <a:latin typeface="Calibri" pitchFamily="34" charset="0"/>
                <a:ea typeface="Calibri" pitchFamily="34" charset="-122"/>
                <a:cs typeface="Calibri" pitchFamily="34" charset="-120"/>
              </a:rPr>
              <a:t>R²</a:t>
            </a:r>
            <a:endParaRPr lang="en-US" sz="1800" dirty="0"/>
          </a:p>
        </p:txBody>
      </p:sp>
      <p:sp>
        <p:nvSpPr>
          <p:cNvPr id="11" name="Text 9"/>
          <p:cNvSpPr/>
          <p:nvPr/>
        </p:nvSpPr>
        <p:spPr>
          <a:xfrm>
            <a:off x="6675120" y="1554480"/>
            <a:ext cx="2103120" cy="594360"/>
          </a:xfrm>
          <a:prstGeom prst="rect">
            <a:avLst/>
          </a:prstGeom>
          <a:noFill/>
          <a:ln/>
        </p:spPr>
        <p:txBody>
          <a:bodyPr wrap="square" lIns="0" tIns="0" rIns="0" bIns="0" rtlCol="0" anchor="ctr"/>
          <a:lstStyle/>
          <a:p>
            <a:pPr marL="0" indent="0" algn="ctr">
              <a:buNone/>
            </a:pPr>
            <a:r>
              <a:rPr lang="en-US" sz="4400" b="1" dirty="0">
                <a:solidFill>
                  <a:srgbClr val="E8A838"/>
                </a:solidFill>
                <a:latin typeface="Calibri" pitchFamily="34" charset="0"/>
                <a:ea typeface="Calibri" pitchFamily="34" charset="-122"/>
                <a:cs typeface="Calibri" pitchFamily="34" charset="-120"/>
              </a:rPr>
              <a:t>73%</a:t>
            </a:r>
            <a:endParaRPr lang="en-US" sz="4400" dirty="0"/>
          </a:p>
        </p:txBody>
      </p:sp>
      <p:sp>
        <p:nvSpPr>
          <p:cNvPr id="12" name="Text 10"/>
          <p:cNvSpPr/>
          <p:nvPr/>
        </p:nvSpPr>
        <p:spPr>
          <a:xfrm>
            <a:off x="6675120" y="2148840"/>
            <a:ext cx="2103120" cy="2743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variance explained</a:t>
            </a:r>
            <a:endParaRPr lang="en-US" sz="900" dirty="0"/>
          </a:p>
        </p:txBody>
      </p:sp>
      <p:sp>
        <p:nvSpPr>
          <p:cNvPr id="13" name="Text 11"/>
          <p:cNvSpPr/>
          <p:nvPr/>
        </p:nvSpPr>
        <p:spPr>
          <a:xfrm>
            <a:off x="365760" y="1143000"/>
            <a:ext cx="612648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Regression Coefficient (B) — standardized relative bar width</a:t>
            </a:r>
            <a:endParaRPr lang="en-US" sz="1000" dirty="0"/>
          </a:p>
        </p:txBody>
      </p:sp>
      <p:sp>
        <p:nvSpPr>
          <p:cNvPr id="14" name="Shape 12"/>
          <p:cNvSpPr/>
          <p:nvPr/>
        </p:nvSpPr>
        <p:spPr>
          <a:xfrm>
            <a:off x="365760" y="1508760"/>
            <a:ext cx="5943600" cy="640080"/>
          </a:xfrm>
          <a:prstGeom prst="rect">
            <a:avLst/>
          </a:prstGeom>
          <a:solidFill>
            <a:srgbClr val="E2E8F0"/>
          </a:solidFill>
          <a:ln w="12700">
            <a:solidFill>
              <a:srgbClr val="E2E8F0"/>
            </a:solidFill>
            <a:prstDash val="solid"/>
          </a:ln>
        </p:spPr>
        <p:txBody>
          <a:bodyPr/>
          <a:lstStyle/>
          <a:p>
            <a:endParaRPr lang="en-US"/>
          </a:p>
        </p:txBody>
      </p:sp>
      <p:sp>
        <p:nvSpPr>
          <p:cNvPr id="15" name="Shape 13"/>
          <p:cNvSpPr/>
          <p:nvPr/>
        </p:nvSpPr>
        <p:spPr>
          <a:xfrm>
            <a:off x="365760" y="1508760"/>
            <a:ext cx="5349240" cy="640080"/>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457200" y="1508760"/>
            <a:ext cx="457200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log(GDP per Capita)</a:t>
            </a:r>
            <a:endParaRPr lang="en-US" sz="1200" dirty="0"/>
          </a:p>
        </p:txBody>
      </p:sp>
      <p:sp>
        <p:nvSpPr>
          <p:cNvPr id="17" name="Text 15"/>
          <p:cNvSpPr/>
          <p:nvPr/>
        </p:nvSpPr>
        <p:spPr>
          <a:xfrm>
            <a:off x="457200" y="1508760"/>
            <a:ext cx="5760720" cy="64008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B = 4.21   p &lt; .001</a:t>
            </a:r>
            <a:endParaRPr lang="en-US" sz="1100" dirty="0"/>
          </a:p>
        </p:txBody>
      </p:sp>
      <p:sp>
        <p:nvSpPr>
          <p:cNvPr id="18" name="Shape 16"/>
          <p:cNvSpPr/>
          <p:nvPr/>
        </p:nvSpPr>
        <p:spPr>
          <a:xfrm>
            <a:off x="365760" y="2514600"/>
            <a:ext cx="5943600" cy="640080"/>
          </a:xfrm>
          <a:prstGeom prst="rect">
            <a:avLst/>
          </a:prstGeom>
          <a:solidFill>
            <a:srgbClr val="E2E8F0"/>
          </a:solidFill>
          <a:ln w="12700">
            <a:solidFill>
              <a:srgbClr val="E2E8F0"/>
            </a:solidFill>
            <a:prstDash val="solid"/>
          </a:ln>
        </p:spPr>
        <p:txBody>
          <a:bodyPr/>
          <a:lstStyle/>
          <a:p>
            <a:endParaRPr lang="en-US"/>
          </a:p>
        </p:txBody>
      </p:sp>
      <p:sp>
        <p:nvSpPr>
          <p:cNvPr id="19" name="Shape 17"/>
          <p:cNvSpPr/>
          <p:nvPr/>
        </p:nvSpPr>
        <p:spPr>
          <a:xfrm>
            <a:off x="365760" y="2514600"/>
            <a:ext cx="2377440" cy="640080"/>
          </a:xfrm>
          <a:prstGeom prst="rect">
            <a:avLst/>
          </a:prstGeom>
          <a:solidFill>
            <a:srgbClr val="5B8DB8"/>
          </a:solidFill>
          <a:ln w="12700">
            <a:solidFill>
              <a:srgbClr val="5B8DB8"/>
            </a:solidFill>
            <a:prstDash val="solid"/>
          </a:ln>
        </p:spPr>
        <p:txBody>
          <a:bodyPr/>
          <a:lstStyle/>
          <a:p>
            <a:endParaRPr lang="en-US"/>
          </a:p>
        </p:txBody>
      </p:sp>
      <p:sp>
        <p:nvSpPr>
          <p:cNvPr id="20" name="Text 18"/>
          <p:cNvSpPr/>
          <p:nvPr/>
        </p:nvSpPr>
        <p:spPr>
          <a:xfrm>
            <a:off x="457200" y="2514600"/>
            <a:ext cx="457200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Health Spending (% GDP)</a:t>
            </a:r>
            <a:endParaRPr lang="en-US" sz="1200" dirty="0"/>
          </a:p>
        </p:txBody>
      </p:sp>
      <p:sp>
        <p:nvSpPr>
          <p:cNvPr id="21" name="Text 19"/>
          <p:cNvSpPr/>
          <p:nvPr/>
        </p:nvSpPr>
        <p:spPr>
          <a:xfrm>
            <a:off x="457200" y="2514600"/>
            <a:ext cx="5760720" cy="64008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B = 0.15   p &lt; .001</a:t>
            </a:r>
            <a:endParaRPr lang="en-US" sz="1100" dirty="0"/>
          </a:p>
        </p:txBody>
      </p:sp>
      <p:sp>
        <p:nvSpPr>
          <p:cNvPr id="22" name="Shape 20"/>
          <p:cNvSpPr/>
          <p:nvPr/>
        </p:nvSpPr>
        <p:spPr>
          <a:xfrm>
            <a:off x="365760" y="3520440"/>
            <a:ext cx="5943600" cy="640080"/>
          </a:xfrm>
          <a:prstGeom prst="rect">
            <a:avLst/>
          </a:prstGeom>
          <a:solidFill>
            <a:srgbClr val="E2E8F0"/>
          </a:solidFill>
          <a:ln w="12700">
            <a:solidFill>
              <a:srgbClr val="E2E8F0"/>
            </a:solidFill>
            <a:prstDash val="solid"/>
          </a:ln>
        </p:spPr>
        <p:txBody>
          <a:bodyPr/>
          <a:lstStyle/>
          <a:p>
            <a:endParaRPr lang="en-US"/>
          </a:p>
        </p:txBody>
      </p:sp>
      <p:sp>
        <p:nvSpPr>
          <p:cNvPr id="23" name="Shape 21"/>
          <p:cNvSpPr/>
          <p:nvPr/>
        </p:nvSpPr>
        <p:spPr>
          <a:xfrm>
            <a:off x="365760" y="3520440"/>
            <a:ext cx="1664208" cy="640080"/>
          </a:xfrm>
          <a:prstGeom prst="rect">
            <a:avLst/>
          </a:prstGeom>
          <a:solidFill>
            <a:srgbClr val="74B49B"/>
          </a:solidFill>
          <a:ln w="12700">
            <a:solidFill>
              <a:srgbClr val="74B49B"/>
            </a:solidFill>
            <a:prstDash val="solid"/>
          </a:ln>
        </p:spPr>
        <p:txBody>
          <a:bodyPr/>
          <a:lstStyle/>
          <a:p>
            <a:endParaRPr lang="en-US"/>
          </a:p>
        </p:txBody>
      </p:sp>
      <p:sp>
        <p:nvSpPr>
          <p:cNvPr id="24" name="Text 22"/>
          <p:cNvSpPr/>
          <p:nvPr/>
        </p:nvSpPr>
        <p:spPr>
          <a:xfrm>
            <a:off x="457200" y="3520440"/>
            <a:ext cx="4572000"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Education Enrollment Rate</a:t>
            </a:r>
            <a:endParaRPr lang="en-US" sz="1200" dirty="0"/>
          </a:p>
        </p:txBody>
      </p:sp>
      <p:sp>
        <p:nvSpPr>
          <p:cNvPr id="25" name="Text 23"/>
          <p:cNvSpPr/>
          <p:nvPr/>
        </p:nvSpPr>
        <p:spPr>
          <a:xfrm>
            <a:off x="457200" y="3520440"/>
            <a:ext cx="5760720" cy="64008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B = 0.08   p &lt; .001</a:t>
            </a:r>
            <a:endParaRPr lang="en-US" sz="1100" dirty="0"/>
          </a:p>
        </p:txBody>
      </p:sp>
      <p:sp>
        <p:nvSpPr>
          <p:cNvPr id="26" name="Text 24"/>
          <p:cNvSpPr/>
          <p:nvPr/>
        </p:nvSpPr>
        <p:spPr>
          <a:xfrm>
            <a:off x="365760" y="4526280"/>
            <a:ext cx="8412480" cy="32004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Takeaway: Economic growth alone is not sufficient — targeted healthcare investment yields a unique, incremental life expectancy benefit.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4: Income as the Bridge to Happiness</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Causal Mediation Analysis  ·  Education → Income → Happiness</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6</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3474720" y="1097280"/>
            <a:ext cx="2194560" cy="914400"/>
          </a:xfrm>
          <a:prstGeom prst="rect">
            <a:avLst/>
          </a:prstGeom>
          <a:solidFill>
            <a:srgbClr val="E8A838"/>
          </a:solidFill>
          <a:ln w="12700">
            <a:solidFill>
              <a:srgbClr val="E8A838"/>
            </a:solidFill>
            <a:prstDash val="solid"/>
          </a:ln>
        </p:spPr>
        <p:txBody>
          <a:bodyPr/>
          <a:lstStyle/>
          <a:p>
            <a:endParaRPr lang="en-US"/>
          </a:p>
        </p:txBody>
      </p:sp>
      <p:sp>
        <p:nvSpPr>
          <p:cNvPr id="10" name="Text 8"/>
          <p:cNvSpPr/>
          <p:nvPr/>
        </p:nvSpPr>
        <p:spPr>
          <a:xfrm>
            <a:off x="3474720" y="1097280"/>
            <a:ext cx="2194560" cy="594360"/>
          </a:xfrm>
          <a:prstGeom prst="rect">
            <a:avLst/>
          </a:prstGeom>
          <a:noFill/>
          <a:ln/>
        </p:spPr>
        <p:txBody>
          <a:bodyPr wrap="square" lIns="0" tIns="0" rIns="0" bIns="0" rtlCol="0" anchor="ctr"/>
          <a:lstStyle/>
          <a:p>
            <a:pPr marL="0" indent="0" algn="ctr">
              <a:buNone/>
            </a:pPr>
            <a:r>
              <a:rPr lang="en-US" sz="4000" b="1" dirty="0">
                <a:solidFill>
                  <a:srgbClr val="1B2A4A"/>
                </a:solidFill>
                <a:latin typeface="Calibri" pitchFamily="34" charset="0"/>
                <a:ea typeface="Calibri" pitchFamily="34" charset="-122"/>
                <a:cs typeface="Calibri" pitchFamily="34" charset="-120"/>
              </a:rPr>
              <a:t>99.4%</a:t>
            </a:r>
            <a:endParaRPr lang="en-US" sz="4000" dirty="0"/>
          </a:p>
        </p:txBody>
      </p:sp>
      <p:sp>
        <p:nvSpPr>
          <p:cNvPr id="11" name="Text 9"/>
          <p:cNvSpPr/>
          <p:nvPr/>
        </p:nvSpPr>
        <p:spPr>
          <a:xfrm>
            <a:off x="3474720" y="1645920"/>
            <a:ext cx="2194560" cy="320040"/>
          </a:xfrm>
          <a:prstGeom prst="rect">
            <a:avLst/>
          </a:prstGeom>
          <a:noFill/>
          <a:ln/>
        </p:spPr>
        <p:txBody>
          <a:bodyPr wrap="square" lIns="0" tIns="0" rIns="0" bIns="0" rtlCol="0" anchor="ctr"/>
          <a:lstStyle/>
          <a:p>
            <a:pPr marL="0" indent="0" algn="ctr">
              <a:buNone/>
            </a:pPr>
            <a:r>
              <a:rPr lang="en-US" sz="1000" b="1" dirty="0">
                <a:solidFill>
                  <a:srgbClr val="1B2A4A"/>
                </a:solidFill>
                <a:latin typeface="Calibri" pitchFamily="34" charset="0"/>
                <a:ea typeface="Calibri" pitchFamily="34" charset="-122"/>
                <a:cs typeface="Calibri" pitchFamily="34" charset="-120"/>
              </a:rPr>
              <a:t>of effect via Income</a:t>
            </a:r>
            <a:endParaRPr lang="en-US" sz="1000" dirty="0"/>
          </a:p>
        </p:txBody>
      </p:sp>
      <p:sp>
        <p:nvSpPr>
          <p:cNvPr id="12" name="Shape 10"/>
          <p:cNvSpPr/>
          <p:nvPr/>
        </p:nvSpPr>
        <p:spPr>
          <a:xfrm>
            <a:off x="457200" y="2423160"/>
            <a:ext cx="2011680" cy="822960"/>
          </a:xfrm>
          <a:prstGeom prst="rect">
            <a:avLst/>
          </a:prstGeom>
          <a:solidFill>
            <a:srgbClr val="1B2A4A"/>
          </a:solidFill>
          <a:ln w="12700">
            <a:solidFill>
              <a:srgbClr val="1B2A4A"/>
            </a:solidFill>
            <a:prstDash val="solid"/>
          </a:ln>
        </p:spPr>
        <p:txBody>
          <a:bodyPr/>
          <a:lstStyle/>
          <a:p>
            <a:endParaRPr lang="en-US"/>
          </a:p>
        </p:txBody>
      </p:sp>
      <p:sp>
        <p:nvSpPr>
          <p:cNvPr id="13" name="Text 11"/>
          <p:cNvSpPr/>
          <p:nvPr/>
        </p:nvSpPr>
        <p:spPr>
          <a:xfrm>
            <a:off x="457200" y="2423160"/>
            <a:ext cx="20116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Education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(X)</a:t>
            </a:r>
            <a:endParaRPr lang="en-US" sz="1300" dirty="0"/>
          </a:p>
        </p:txBody>
      </p:sp>
      <p:sp>
        <p:nvSpPr>
          <p:cNvPr id="14" name="Shape 12"/>
          <p:cNvSpPr/>
          <p:nvPr/>
        </p:nvSpPr>
        <p:spPr>
          <a:xfrm>
            <a:off x="3566160" y="2011680"/>
            <a:ext cx="2011680" cy="82296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3566160" y="2011680"/>
            <a:ext cx="201168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Real Income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(Mediator)</a:t>
            </a:r>
            <a:endParaRPr lang="en-US" sz="1200" dirty="0"/>
          </a:p>
        </p:txBody>
      </p:sp>
      <p:sp>
        <p:nvSpPr>
          <p:cNvPr id="16" name="Shape 14"/>
          <p:cNvSpPr/>
          <p:nvPr/>
        </p:nvSpPr>
        <p:spPr>
          <a:xfrm>
            <a:off x="6675120" y="2423160"/>
            <a:ext cx="2011680" cy="822960"/>
          </a:xfrm>
          <a:prstGeom prst="rect">
            <a:avLst/>
          </a:prstGeom>
          <a:solidFill>
            <a:srgbClr val="1B2A4A"/>
          </a:solidFill>
          <a:ln w="12700">
            <a:solidFill>
              <a:srgbClr val="1B2A4A"/>
            </a:solidFill>
            <a:prstDash val="solid"/>
          </a:ln>
        </p:spPr>
        <p:txBody>
          <a:bodyPr/>
          <a:lstStyle/>
          <a:p>
            <a:endParaRPr lang="en-US"/>
          </a:p>
        </p:txBody>
      </p:sp>
      <p:sp>
        <p:nvSpPr>
          <p:cNvPr id="17" name="Text 15"/>
          <p:cNvSpPr/>
          <p:nvPr/>
        </p:nvSpPr>
        <p:spPr>
          <a:xfrm>
            <a:off x="6675120" y="2423160"/>
            <a:ext cx="20116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Happiness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18" name="Shape 16"/>
          <p:cNvSpPr/>
          <p:nvPr/>
        </p:nvSpPr>
        <p:spPr>
          <a:xfrm>
            <a:off x="2468880" y="2423160"/>
            <a:ext cx="1097280" cy="0"/>
          </a:xfrm>
          <a:prstGeom prst="line">
            <a:avLst/>
          </a:prstGeom>
          <a:noFill/>
          <a:ln w="12700">
            <a:solidFill>
              <a:srgbClr val="028090"/>
            </a:solidFill>
            <a:prstDash val="solid"/>
          </a:ln>
        </p:spPr>
        <p:txBody>
          <a:bodyPr/>
          <a:lstStyle/>
          <a:p>
            <a:endParaRPr lang="en-US"/>
          </a:p>
        </p:txBody>
      </p:sp>
      <p:sp>
        <p:nvSpPr>
          <p:cNvPr id="19" name="Text 17"/>
          <p:cNvSpPr/>
          <p:nvPr/>
        </p:nvSpPr>
        <p:spPr>
          <a:xfrm>
            <a:off x="2468880" y="1691640"/>
            <a:ext cx="1371600" cy="274320"/>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Path A ✔</a:t>
            </a:r>
            <a:endParaRPr lang="en-US" sz="1000" dirty="0"/>
          </a:p>
        </p:txBody>
      </p:sp>
      <p:sp>
        <p:nvSpPr>
          <p:cNvPr id="20" name="Shape 18"/>
          <p:cNvSpPr/>
          <p:nvPr/>
        </p:nvSpPr>
        <p:spPr>
          <a:xfrm>
            <a:off x="5577840" y="2423160"/>
            <a:ext cx="1097280" cy="411480"/>
          </a:xfrm>
          <a:prstGeom prst="line">
            <a:avLst/>
          </a:prstGeom>
          <a:noFill/>
          <a:ln w="12700">
            <a:solidFill>
              <a:srgbClr val="028090"/>
            </a:solidFill>
            <a:prstDash val="solid"/>
          </a:ln>
        </p:spPr>
        <p:txBody>
          <a:bodyPr/>
          <a:lstStyle/>
          <a:p>
            <a:endParaRPr lang="en-US"/>
          </a:p>
        </p:txBody>
      </p:sp>
      <p:sp>
        <p:nvSpPr>
          <p:cNvPr id="21" name="Text 19"/>
          <p:cNvSpPr/>
          <p:nvPr/>
        </p:nvSpPr>
        <p:spPr>
          <a:xfrm>
            <a:off x="5577840" y="1737360"/>
            <a:ext cx="1371600" cy="274320"/>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Path B ✔</a:t>
            </a:r>
            <a:endParaRPr lang="en-US" sz="1000" dirty="0"/>
          </a:p>
        </p:txBody>
      </p:sp>
      <p:sp>
        <p:nvSpPr>
          <p:cNvPr id="22" name="Shape 20"/>
          <p:cNvSpPr/>
          <p:nvPr/>
        </p:nvSpPr>
        <p:spPr>
          <a:xfrm>
            <a:off x="2468880" y="2834640"/>
            <a:ext cx="4206240" cy="0"/>
          </a:xfrm>
          <a:prstGeom prst="line">
            <a:avLst/>
          </a:prstGeom>
          <a:noFill/>
          <a:ln w="12700">
            <a:solidFill>
              <a:srgbClr val="64748B"/>
            </a:solidFill>
            <a:prstDash val="dash"/>
          </a:ln>
        </p:spPr>
        <p:txBody>
          <a:bodyPr/>
          <a:lstStyle/>
          <a:p>
            <a:endParaRPr lang="en-US"/>
          </a:p>
        </p:txBody>
      </p:sp>
      <p:sp>
        <p:nvSpPr>
          <p:cNvPr id="23" name="Text 21"/>
          <p:cNvSpPr/>
          <p:nvPr/>
        </p:nvSpPr>
        <p:spPr>
          <a:xfrm>
            <a:off x="3200400" y="2880360"/>
            <a:ext cx="274320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Direct Effect c' = 0.00 (ns)</a:t>
            </a:r>
            <a:endParaRPr lang="en-US" sz="1000" dirty="0"/>
          </a:p>
        </p:txBody>
      </p:sp>
      <p:sp>
        <p:nvSpPr>
          <p:cNvPr id="24" name="Text 22"/>
          <p:cNvSpPr/>
          <p:nvPr/>
        </p:nvSpPr>
        <p:spPr>
          <a:xfrm>
            <a:off x="3200400" y="3291840"/>
            <a:ext cx="2743200" cy="320040"/>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Indirect (ACME) = 0.034***</a:t>
            </a:r>
            <a:endParaRPr lang="en-US" sz="1100" dirty="0"/>
          </a:p>
        </p:txBody>
      </p:sp>
      <p:sp>
        <p:nvSpPr>
          <p:cNvPr id="25" name="Shape 23"/>
          <p:cNvSpPr/>
          <p:nvPr/>
        </p:nvSpPr>
        <p:spPr>
          <a:xfrm>
            <a:off x="365760" y="3794760"/>
            <a:ext cx="8412480" cy="685800"/>
          </a:xfrm>
          <a:prstGeom prst="rect">
            <a:avLst/>
          </a:prstGeom>
          <a:solidFill>
            <a:srgbClr val="1B2A4A"/>
          </a:solidFill>
          <a:ln w="12700">
            <a:solidFill>
              <a:srgbClr val="1B2A4A"/>
            </a:solidFill>
            <a:prstDash val="solid"/>
          </a:ln>
        </p:spPr>
        <p:txBody>
          <a:bodyPr/>
          <a:lstStyle/>
          <a:p>
            <a:endParaRPr lang="en-US"/>
          </a:p>
        </p:txBody>
      </p:sp>
      <p:sp>
        <p:nvSpPr>
          <p:cNvPr id="26" name="Text 24"/>
          <p:cNvSpPr/>
          <p:nvPr/>
        </p:nvSpPr>
        <p:spPr>
          <a:xfrm>
            <a:off x="457200" y="3794760"/>
            <a:ext cx="8229600" cy="6858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Insight: Education boosts happiness almost entirely by increasing income — not through intangible benefits like social status alone. Economic security is the engine.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5: Geography &amp; Social Capital</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Multilevel Modeling (MLM)  ·  OECD Better Life Index</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7</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365760" y="1143000"/>
            <a:ext cx="2286000" cy="1463040"/>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365760" y="1143000"/>
            <a:ext cx="228600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ICC</a:t>
            </a:r>
            <a:endParaRPr lang="en-US" sz="1800" dirty="0"/>
          </a:p>
        </p:txBody>
      </p:sp>
      <p:sp>
        <p:nvSpPr>
          <p:cNvPr id="11" name="Text 9"/>
          <p:cNvSpPr/>
          <p:nvPr/>
        </p:nvSpPr>
        <p:spPr>
          <a:xfrm>
            <a:off x="365760" y="1554480"/>
            <a:ext cx="2286000" cy="594360"/>
          </a:xfrm>
          <a:prstGeom prst="rect">
            <a:avLst/>
          </a:prstGeom>
          <a:noFill/>
          <a:ln/>
        </p:spPr>
        <p:txBody>
          <a:bodyPr wrap="square" lIns="0" tIns="0" rIns="0" bIns="0" rtlCol="0" anchor="ctr"/>
          <a:lstStyle/>
          <a:p>
            <a:pPr marL="0" indent="0" algn="ctr">
              <a:buNone/>
            </a:pPr>
            <a:r>
              <a:rPr lang="en-US" sz="3800" b="1" dirty="0">
                <a:solidFill>
                  <a:srgbClr val="E8A838"/>
                </a:solidFill>
                <a:latin typeface="Calibri" pitchFamily="34" charset="0"/>
                <a:ea typeface="Calibri" pitchFamily="34" charset="-122"/>
                <a:cs typeface="Calibri" pitchFamily="34" charset="-120"/>
              </a:rPr>
              <a:t>31.1%</a:t>
            </a:r>
            <a:endParaRPr lang="en-US" sz="3800" dirty="0"/>
          </a:p>
        </p:txBody>
      </p:sp>
      <p:sp>
        <p:nvSpPr>
          <p:cNvPr id="12" name="Text 10"/>
          <p:cNvSpPr/>
          <p:nvPr/>
        </p:nvSpPr>
        <p:spPr>
          <a:xfrm>
            <a:off x="365760" y="2148840"/>
            <a:ext cx="22860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explained by region</a:t>
            </a:r>
            <a:endParaRPr lang="en-US" sz="900" dirty="0"/>
          </a:p>
        </p:txBody>
      </p:sp>
      <p:sp>
        <p:nvSpPr>
          <p:cNvPr id="13" name="Shape 11"/>
          <p:cNvSpPr/>
          <p:nvPr/>
        </p:nvSpPr>
        <p:spPr>
          <a:xfrm>
            <a:off x="2926080" y="1143000"/>
            <a:ext cx="5852160" cy="640080"/>
          </a:xfrm>
          <a:prstGeom prst="rect">
            <a:avLst/>
          </a:prstGeom>
          <a:solidFill>
            <a:srgbClr val="EBF5FB"/>
          </a:solidFill>
          <a:ln w="12700">
            <a:solidFill>
              <a:srgbClr val="028090"/>
            </a:solidFill>
            <a:prstDash val="solid"/>
          </a:ln>
        </p:spPr>
        <p:txBody>
          <a:bodyPr/>
          <a:lstStyle/>
          <a:p>
            <a:endParaRPr lang="en-US"/>
          </a:p>
        </p:txBody>
      </p:sp>
      <p:sp>
        <p:nvSpPr>
          <p:cNvPr id="14" name="Text 12"/>
          <p:cNvSpPr/>
          <p:nvPr/>
        </p:nvSpPr>
        <p:spPr>
          <a:xfrm>
            <a:off x="3017520" y="1143000"/>
            <a:ext cx="5669280" cy="6400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Fixed Effect — Social Support:  β = 0.054  ·  t = 4.75  ·  p &lt; .001</a:t>
            </a:r>
            <a:endParaRPr lang="en-US" sz="1300" dirty="0"/>
          </a:p>
        </p:txBody>
      </p:sp>
      <p:sp>
        <p:nvSpPr>
          <p:cNvPr id="15" name="Text 13"/>
          <p:cNvSpPr/>
          <p:nvPr/>
        </p:nvSpPr>
        <p:spPr>
          <a:xfrm>
            <a:off x="2926080" y="1874520"/>
            <a:ext cx="585216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For every 1% rise in social support, life satisfaction increases by ~0.05 points — regardless of region.</a:t>
            </a:r>
            <a:endParaRPr lang="en-US" sz="1000" dirty="0"/>
          </a:p>
        </p:txBody>
      </p:sp>
      <p:sp>
        <p:nvSpPr>
          <p:cNvPr id="16" name="Shape 14"/>
          <p:cNvSpPr/>
          <p:nvPr/>
        </p:nvSpPr>
        <p:spPr>
          <a:xfrm>
            <a:off x="365760" y="2377440"/>
            <a:ext cx="8412480" cy="365760"/>
          </a:xfrm>
          <a:prstGeom prst="rect">
            <a:avLst/>
          </a:prstGeom>
          <a:solidFill>
            <a:srgbClr val="1B2A4A"/>
          </a:solidFill>
          <a:ln w="12700">
            <a:solidFill>
              <a:srgbClr val="1B2A4A"/>
            </a:solidFill>
            <a:prstDash val="solid"/>
          </a:ln>
        </p:spPr>
        <p:txBody>
          <a:bodyPr/>
          <a:lstStyle/>
          <a:p>
            <a:endParaRPr lang="en-US"/>
          </a:p>
        </p:txBody>
      </p:sp>
      <p:sp>
        <p:nvSpPr>
          <p:cNvPr id="17" name="Text 15"/>
          <p:cNvSpPr/>
          <p:nvPr/>
        </p:nvSpPr>
        <p:spPr>
          <a:xfrm>
            <a:off x="457200" y="2377440"/>
            <a:ext cx="502920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Region</a:t>
            </a:r>
            <a:endParaRPr lang="en-US" sz="1100" dirty="0"/>
          </a:p>
        </p:txBody>
      </p:sp>
      <p:sp>
        <p:nvSpPr>
          <p:cNvPr id="18" name="Text 16"/>
          <p:cNvSpPr/>
          <p:nvPr/>
        </p:nvSpPr>
        <p:spPr>
          <a:xfrm>
            <a:off x="5486400" y="2377440"/>
            <a:ext cx="16459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Life Satisfaction</a:t>
            </a:r>
            <a:endParaRPr lang="en-US" sz="1100" dirty="0"/>
          </a:p>
        </p:txBody>
      </p:sp>
      <p:sp>
        <p:nvSpPr>
          <p:cNvPr id="19" name="Text 17"/>
          <p:cNvSpPr/>
          <p:nvPr/>
        </p:nvSpPr>
        <p:spPr>
          <a:xfrm>
            <a:off x="7132320" y="2377440"/>
            <a:ext cx="155448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Social Support</a:t>
            </a:r>
            <a:endParaRPr lang="en-US" sz="1100" dirty="0"/>
          </a:p>
        </p:txBody>
      </p:sp>
      <p:sp>
        <p:nvSpPr>
          <p:cNvPr id="20" name="Shape 18"/>
          <p:cNvSpPr/>
          <p:nvPr/>
        </p:nvSpPr>
        <p:spPr>
          <a:xfrm>
            <a:off x="365760" y="2788920"/>
            <a:ext cx="8412480" cy="384048"/>
          </a:xfrm>
          <a:prstGeom prst="rect">
            <a:avLst/>
          </a:prstGeom>
          <a:solidFill>
            <a:srgbClr val="FFFFFF"/>
          </a:solidFill>
          <a:ln w="12700">
            <a:solidFill>
              <a:srgbClr val="E2E8F0"/>
            </a:solidFill>
            <a:prstDash val="solid"/>
          </a:ln>
        </p:spPr>
        <p:txBody>
          <a:bodyPr/>
          <a:lstStyle/>
          <a:p>
            <a:endParaRPr lang="en-US"/>
          </a:p>
        </p:txBody>
      </p:sp>
      <p:sp>
        <p:nvSpPr>
          <p:cNvPr id="21" name="Shape 19"/>
          <p:cNvSpPr/>
          <p:nvPr/>
        </p:nvSpPr>
        <p:spPr>
          <a:xfrm>
            <a:off x="365760" y="2788920"/>
            <a:ext cx="109728"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548640" y="2788920"/>
            <a:ext cx="4846320" cy="384048"/>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North America</a:t>
            </a:r>
            <a:endParaRPr lang="en-US" sz="1100" dirty="0"/>
          </a:p>
        </p:txBody>
      </p:sp>
      <p:sp>
        <p:nvSpPr>
          <p:cNvPr id="23" name="Text 21"/>
          <p:cNvSpPr/>
          <p:nvPr/>
        </p:nvSpPr>
        <p:spPr>
          <a:xfrm>
            <a:off x="5486400" y="2788920"/>
            <a:ext cx="1645920" cy="384048"/>
          </a:xfrm>
          <a:prstGeom prst="rect">
            <a:avLst/>
          </a:prstGeom>
          <a:noFill/>
          <a:ln/>
        </p:spPr>
        <p:txBody>
          <a:bodyPr wrap="square" lIns="0" tIns="0" rIns="0" bIns="0"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7.00</a:t>
            </a:r>
            <a:endParaRPr lang="en-US" sz="1300" dirty="0"/>
          </a:p>
        </p:txBody>
      </p:sp>
      <p:sp>
        <p:nvSpPr>
          <p:cNvPr id="24" name="Text 22"/>
          <p:cNvSpPr/>
          <p:nvPr/>
        </p:nvSpPr>
        <p:spPr>
          <a:xfrm>
            <a:off x="7132320" y="2788920"/>
            <a:ext cx="1554480" cy="384048"/>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92.5%</a:t>
            </a:r>
            <a:endParaRPr lang="en-US" sz="1100" dirty="0"/>
          </a:p>
        </p:txBody>
      </p:sp>
      <p:sp>
        <p:nvSpPr>
          <p:cNvPr id="25" name="Shape 23"/>
          <p:cNvSpPr/>
          <p:nvPr/>
        </p:nvSpPr>
        <p:spPr>
          <a:xfrm>
            <a:off x="365760" y="3172968"/>
            <a:ext cx="8412480" cy="384048"/>
          </a:xfrm>
          <a:prstGeom prst="rect">
            <a:avLst/>
          </a:prstGeom>
          <a:solidFill>
            <a:srgbClr val="E2E8F0"/>
          </a:solidFill>
          <a:ln w="12700">
            <a:solidFill>
              <a:srgbClr val="E2E8F0"/>
            </a:solidFill>
            <a:prstDash val="solid"/>
          </a:ln>
        </p:spPr>
        <p:txBody>
          <a:bodyPr/>
          <a:lstStyle/>
          <a:p>
            <a:endParaRPr lang="en-US"/>
          </a:p>
        </p:txBody>
      </p:sp>
      <p:sp>
        <p:nvSpPr>
          <p:cNvPr id="26" name="Shape 24"/>
          <p:cNvSpPr/>
          <p:nvPr/>
        </p:nvSpPr>
        <p:spPr>
          <a:xfrm>
            <a:off x="365760" y="3172968"/>
            <a:ext cx="109728" cy="384048"/>
          </a:xfrm>
          <a:prstGeom prst="rect">
            <a:avLst/>
          </a:prstGeom>
          <a:solidFill>
            <a:srgbClr val="5B8DB8"/>
          </a:solidFill>
          <a:ln w="12700">
            <a:solidFill>
              <a:srgbClr val="5B8DB8"/>
            </a:solidFill>
            <a:prstDash val="solid"/>
          </a:ln>
        </p:spPr>
        <p:txBody>
          <a:bodyPr/>
          <a:lstStyle/>
          <a:p>
            <a:endParaRPr lang="en-US"/>
          </a:p>
        </p:txBody>
      </p:sp>
      <p:sp>
        <p:nvSpPr>
          <p:cNvPr id="27" name="Text 25"/>
          <p:cNvSpPr/>
          <p:nvPr/>
        </p:nvSpPr>
        <p:spPr>
          <a:xfrm>
            <a:off x="548640" y="3172968"/>
            <a:ext cx="4846320" cy="384048"/>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Latin America &amp; Caribbean</a:t>
            </a:r>
            <a:endParaRPr lang="en-US" sz="1100" dirty="0"/>
          </a:p>
        </p:txBody>
      </p:sp>
      <p:sp>
        <p:nvSpPr>
          <p:cNvPr id="28" name="Text 26"/>
          <p:cNvSpPr/>
          <p:nvPr/>
        </p:nvSpPr>
        <p:spPr>
          <a:xfrm>
            <a:off x="5486400" y="3172968"/>
            <a:ext cx="1645920" cy="384048"/>
          </a:xfrm>
          <a:prstGeom prst="rect">
            <a:avLst/>
          </a:prstGeom>
          <a:noFill/>
          <a:ln/>
        </p:spPr>
        <p:txBody>
          <a:bodyPr wrap="square" lIns="0" tIns="0" rIns="0" bIns="0" rtlCol="0" anchor="ctr"/>
          <a:lstStyle/>
          <a:p>
            <a:pPr marL="0" indent="0" algn="ctr">
              <a:buNone/>
            </a:pPr>
            <a:r>
              <a:rPr lang="en-US" sz="1300" b="1" dirty="0">
                <a:solidFill>
                  <a:srgbClr val="5B8DB8"/>
                </a:solidFill>
                <a:latin typeface="Calibri" pitchFamily="34" charset="0"/>
                <a:ea typeface="Calibri" pitchFamily="34" charset="-122"/>
                <a:cs typeface="Calibri" pitchFamily="34" charset="-120"/>
              </a:rPr>
              <a:t>6.40</a:t>
            </a:r>
            <a:endParaRPr lang="en-US" sz="1300" dirty="0"/>
          </a:p>
        </p:txBody>
      </p:sp>
      <p:sp>
        <p:nvSpPr>
          <p:cNvPr id="29" name="Text 27"/>
          <p:cNvSpPr/>
          <p:nvPr/>
        </p:nvSpPr>
        <p:spPr>
          <a:xfrm>
            <a:off x="7132320" y="3172968"/>
            <a:ext cx="1554480" cy="384048"/>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93.5%</a:t>
            </a:r>
            <a:endParaRPr lang="en-US" sz="1100" dirty="0"/>
          </a:p>
        </p:txBody>
      </p:sp>
      <p:sp>
        <p:nvSpPr>
          <p:cNvPr id="30" name="Shape 28"/>
          <p:cNvSpPr/>
          <p:nvPr/>
        </p:nvSpPr>
        <p:spPr>
          <a:xfrm>
            <a:off x="365760" y="3557016"/>
            <a:ext cx="8412480" cy="384048"/>
          </a:xfrm>
          <a:prstGeom prst="rect">
            <a:avLst/>
          </a:prstGeom>
          <a:solidFill>
            <a:srgbClr val="FFFFFF"/>
          </a:solidFill>
          <a:ln w="12700">
            <a:solidFill>
              <a:srgbClr val="E2E8F0"/>
            </a:solidFill>
            <a:prstDash val="solid"/>
          </a:ln>
        </p:spPr>
        <p:txBody>
          <a:bodyPr/>
          <a:lstStyle/>
          <a:p>
            <a:endParaRPr lang="en-US"/>
          </a:p>
        </p:txBody>
      </p:sp>
      <p:sp>
        <p:nvSpPr>
          <p:cNvPr id="31" name="Shape 29"/>
          <p:cNvSpPr/>
          <p:nvPr/>
        </p:nvSpPr>
        <p:spPr>
          <a:xfrm>
            <a:off x="365760" y="3557016"/>
            <a:ext cx="109728" cy="384048"/>
          </a:xfrm>
          <a:prstGeom prst="rect">
            <a:avLst/>
          </a:prstGeom>
          <a:solidFill>
            <a:srgbClr val="74B49B"/>
          </a:solidFill>
          <a:ln w="12700">
            <a:solidFill>
              <a:srgbClr val="74B49B"/>
            </a:solidFill>
            <a:prstDash val="solid"/>
          </a:ln>
        </p:spPr>
        <p:txBody>
          <a:bodyPr/>
          <a:lstStyle/>
          <a:p>
            <a:endParaRPr lang="en-US"/>
          </a:p>
        </p:txBody>
      </p:sp>
      <p:sp>
        <p:nvSpPr>
          <p:cNvPr id="32" name="Text 30"/>
          <p:cNvSpPr/>
          <p:nvPr/>
        </p:nvSpPr>
        <p:spPr>
          <a:xfrm>
            <a:off x="548640" y="3557016"/>
            <a:ext cx="4846320" cy="384048"/>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Europe &amp; Central Asia</a:t>
            </a:r>
            <a:endParaRPr lang="en-US" sz="1100" dirty="0"/>
          </a:p>
        </p:txBody>
      </p:sp>
      <p:sp>
        <p:nvSpPr>
          <p:cNvPr id="33" name="Text 31"/>
          <p:cNvSpPr/>
          <p:nvPr/>
        </p:nvSpPr>
        <p:spPr>
          <a:xfrm>
            <a:off x="5486400" y="3557016"/>
            <a:ext cx="1645920" cy="384048"/>
          </a:xfrm>
          <a:prstGeom prst="rect">
            <a:avLst/>
          </a:prstGeom>
          <a:noFill/>
          <a:ln/>
        </p:spPr>
        <p:txBody>
          <a:bodyPr wrap="square" lIns="0" tIns="0" rIns="0" bIns="0" rtlCol="0" anchor="ctr"/>
          <a:lstStyle/>
          <a:p>
            <a:pPr marL="0" indent="0" algn="ctr">
              <a:buNone/>
            </a:pPr>
            <a:r>
              <a:rPr lang="en-US" sz="1300" b="1" dirty="0">
                <a:solidFill>
                  <a:srgbClr val="74B49B"/>
                </a:solidFill>
                <a:latin typeface="Calibri" pitchFamily="34" charset="0"/>
                <a:ea typeface="Calibri" pitchFamily="34" charset="-122"/>
                <a:cs typeface="Calibri" pitchFamily="34" charset="-120"/>
              </a:rPr>
              <a:t>6.30</a:t>
            </a:r>
            <a:endParaRPr lang="en-US" sz="1300" dirty="0"/>
          </a:p>
        </p:txBody>
      </p:sp>
      <p:sp>
        <p:nvSpPr>
          <p:cNvPr id="34" name="Text 32"/>
          <p:cNvSpPr/>
          <p:nvPr/>
        </p:nvSpPr>
        <p:spPr>
          <a:xfrm>
            <a:off x="7132320" y="3557016"/>
            <a:ext cx="1554480" cy="384048"/>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90.8%</a:t>
            </a:r>
            <a:endParaRPr lang="en-US" sz="1100" dirty="0"/>
          </a:p>
        </p:txBody>
      </p:sp>
      <p:sp>
        <p:nvSpPr>
          <p:cNvPr id="35" name="Shape 33"/>
          <p:cNvSpPr/>
          <p:nvPr/>
        </p:nvSpPr>
        <p:spPr>
          <a:xfrm>
            <a:off x="365760" y="3941064"/>
            <a:ext cx="8412480" cy="384048"/>
          </a:xfrm>
          <a:prstGeom prst="rect">
            <a:avLst/>
          </a:prstGeom>
          <a:solidFill>
            <a:srgbClr val="E2E8F0"/>
          </a:solidFill>
          <a:ln w="12700">
            <a:solidFill>
              <a:srgbClr val="E2E8F0"/>
            </a:solidFill>
            <a:prstDash val="solid"/>
          </a:ln>
        </p:spPr>
        <p:txBody>
          <a:bodyPr/>
          <a:lstStyle/>
          <a:p>
            <a:endParaRPr lang="en-US"/>
          </a:p>
        </p:txBody>
      </p:sp>
      <p:sp>
        <p:nvSpPr>
          <p:cNvPr id="36" name="Shape 34"/>
          <p:cNvSpPr/>
          <p:nvPr/>
        </p:nvSpPr>
        <p:spPr>
          <a:xfrm>
            <a:off x="365760" y="3941064"/>
            <a:ext cx="109728" cy="384048"/>
          </a:xfrm>
          <a:prstGeom prst="rect">
            <a:avLst/>
          </a:prstGeom>
          <a:solidFill>
            <a:srgbClr val="A8C8A0"/>
          </a:solidFill>
          <a:ln w="12700">
            <a:solidFill>
              <a:srgbClr val="A8C8A0"/>
            </a:solidFill>
            <a:prstDash val="solid"/>
          </a:ln>
        </p:spPr>
        <p:txBody>
          <a:bodyPr/>
          <a:lstStyle/>
          <a:p>
            <a:endParaRPr lang="en-US"/>
          </a:p>
        </p:txBody>
      </p:sp>
      <p:sp>
        <p:nvSpPr>
          <p:cNvPr id="37" name="Text 35"/>
          <p:cNvSpPr/>
          <p:nvPr/>
        </p:nvSpPr>
        <p:spPr>
          <a:xfrm>
            <a:off x="548640" y="3941064"/>
            <a:ext cx="4846320" cy="384048"/>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East Asia &amp; Pacific</a:t>
            </a:r>
            <a:endParaRPr lang="en-US" sz="1100" dirty="0"/>
          </a:p>
        </p:txBody>
      </p:sp>
      <p:sp>
        <p:nvSpPr>
          <p:cNvPr id="38" name="Text 36"/>
          <p:cNvSpPr/>
          <p:nvPr/>
        </p:nvSpPr>
        <p:spPr>
          <a:xfrm>
            <a:off x="5486400" y="3941064"/>
            <a:ext cx="1645920" cy="384048"/>
          </a:xfrm>
          <a:prstGeom prst="rect">
            <a:avLst/>
          </a:prstGeom>
          <a:noFill/>
          <a:ln/>
        </p:spPr>
        <p:txBody>
          <a:bodyPr wrap="square" lIns="0" tIns="0" rIns="0" bIns="0" rtlCol="0" anchor="ctr"/>
          <a:lstStyle/>
          <a:p>
            <a:pPr marL="0" indent="0" algn="ctr">
              <a:buNone/>
            </a:pPr>
            <a:r>
              <a:rPr lang="en-US" sz="1300" b="1" dirty="0">
                <a:solidFill>
                  <a:srgbClr val="A8C8A0"/>
                </a:solidFill>
                <a:latin typeface="Calibri" pitchFamily="34" charset="0"/>
                <a:ea typeface="Calibri" pitchFamily="34" charset="-122"/>
                <a:cs typeface="Calibri" pitchFamily="34" charset="-120"/>
              </a:rPr>
              <a:t>6.20</a:t>
            </a:r>
            <a:endParaRPr lang="en-US" sz="1300" dirty="0"/>
          </a:p>
        </p:txBody>
      </p:sp>
      <p:sp>
        <p:nvSpPr>
          <p:cNvPr id="39" name="Text 37"/>
          <p:cNvSpPr/>
          <p:nvPr/>
        </p:nvSpPr>
        <p:spPr>
          <a:xfrm>
            <a:off x="7132320" y="3941064"/>
            <a:ext cx="1554480" cy="384048"/>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91.1%</a:t>
            </a:r>
            <a:endParaRPr lang="en-US" sz="1100" dirty="0"/>
          </a:p>
        </p:txBody>
      </p:sp>
      <p:sp>
        <p:nvSpPr>
          <p:cNvPr id="40" name="Shape 38"/>
          <p:cNvSpPr/>
          <p:nvPr/>
        </p:nvSpPr>
        <p:spPr>
          <a:xfrm>
            <a:off x="365760" y="4325112"/>
            <a:ext cx="8412480" cy="384048"/>
          </a:xfrm>
          <a:prstGeom prst="rect">
            <a:avLst/>
          </a:prstGeom>
          <a:solidFill>
            <a:srgbClr val="FFFFFF"/>
          </a:solidFill>
          <a:ln w="12700">
            <a:solidFill>
              <a:srgbClr val="E2E8F0"/>
            </a:solidFill>
            <a:prstDash val="solid"/>
          </a:ln>
        </p:spPr>
        <p:txBody>
          <a:bodyPr/>
          <a:lstStyle/>
          <a:p>
            <a:endParaRPr lang="en-US"/>
          </a:p>
        </p:txBody>
      </p:sp>
      <p:sp>
        <p:nvSpPr>
          <p:cNvPr id="41" name="Shape 39"/>
          <p:cNvSpPr/>
          <p:nvPr/>
        </p:nvSpPr>
        <p:spPr>
          <a:xfrm>
            <a:off x="365760" y="4325112"/>
            <a:ext cx="109728" cy="384048"/>
          </a:xfrm>
          <a:prstGeom prst="rect">
            <a:avLst/>
          </a:prstGeom>
          <a:solidFill>
            <a:srgbClr val="E8756A"/>
          </a:solidFill>
          <a:ln w="12700">
            <a:solidFill>
              <a:srgbClr val="E8756A"/>
            </a:solidFill>
            <a:prstDash val="solid"/>
          </a:ln>
        </p:spPr>
        <p:txBody>
          <a:bodyPr/>
          <a:lstStyle/>
          <a:p>
            <a:endParaRPr lang="en-US"/>
          </a:p>
        </p:txBody>
      </p:sp>
      <p:sp>
        <p:nvSpPr>
          <p:cNvPr id="42" name="Text 40"/>
          <p:cNvSpPr/>
          <p:nvPr/>
        </p:nvSpPr>
        <p:spPr>
          <a:xfrm>
            <a:off x="548640" y="4325112"/>
            <a:ext cx="4846320" cy="384048"/>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Sub-Saharan Africa</a:t>
            </a:r>
            <a:endParaRPr lang="en-US" sz="1100" dirty="0"/>
          </a:p>
        </p:txBody>
      </p:sp>
      <p:sp>
        <p:nvSpPr>
          <p:cNvPr id="43" name="Text 41"/>
          <p:cNvSpPr/>
          <p:nvPr/>
        </p:nvSpPr>
        <p:spPr>
          <a:xfrm>
            <a:off x="5486400" y="4325112"/>
            <a:ext cx="1645920" cy="384048"/>
          </a:xfrm>
          <a:prstGeom prst="rect">
            <a:avLst/>
          </a:prstGeom>
          <a:noFill/>
          <a:ln/>
        </p:spPr>
        <p:txBody>
          <a:bodyPr wrap="square" lIns="0" tIns="0" rIns="0" bIns="0" rtlCol="0" anchor="ctr"/>
          <a:lstStyle/>
          <a:p>
            <a:pPr marL="0" indent="0" algn="ctr">
              <a:buNone/>
            </a:pPr>
            <a:r>
              <a:rPr lang="en-US" sz="1300" b="1" dirty="0">
                <a:solidFill>
                  <a:srgbClr val="E8756A"/>
                </a:solidFill>
                <a:latin typeface="Calibri" pitchFamily="34" charset="0"/>
                <a:ea typeface="Calibri" pitchFamily="34" charset="-122"/>
                <a:cs typeface="Calibri" pitchFamily="34" charset="-120"/>
              </a:rPr>
              <a:t>4.90</a:t>
            </a:r>
            <a:endParaRPr lang="en-US" sz="1300" dirty="0"/>
          </a:p>
        </p:txBody>
      </p:sp>
      <p:sp>
        <p:nvSpPr>
          <p:cNvPr id="44" name="Text 42"/>
          <p:cNvSpPr/>
          <p:nvPr/>
        </p:nvSpPr>
        <p:spPr>
          <a:xfrm>
            <a:off x="7132320" y="4325112"/>
            <a:ext cx="1554480" cy="384048"/>
          </a:xfrm>
          <a:prstGeom prst="rect">
            <a:avLst/>
          </a:prstGeom>
          <a:noFill/>
          <a:ln/>
        </p:spPr>
        <p:txBody>
          <a:bodyPr wrap="square" lIns="0" tIns="0" rIns="0" bIns="0"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75.0%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Batch 6: The Quality of Life Factor</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Exploratory Factor Analysis  ·  OECD Better Life Index  ·  KMO = 0.74</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8</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Text 7"/>
          <p:cNvSpPr/>
          <p:nvPr/>
        </p:nvSpPr>
        <p:spPr>
          <a:xfrm>
            <a:off x="365760" y="1097280"/>
            <a:ext cx="8412480" cy="32004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One latent factor explains 42.2% of all variance across five national well-being indicators</a:t>
            </a:r>
            <a:endParaRPr lang="en-US" sz="1200" dirty="0"/>
          </a:p>
        </p:txBody>
      </p:sp>
      <p:sp>
        <p:nvSpPr>
          <p:cNvPr id="10" name="Text 8"/>
          <p:cNvSpPr/>
          <p:nvPr/>
        </p:nvSpPr>
        <p:spPr>
          <a:xfrm>
            <a:off x="365760" y="1600200"/>
            <a:ext cx="2194560" cy="50292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Life Satisfaction</a:t>
            </a:r>
            <a:endParaRPr lang="en-US" sz="1200" dirty="0"/>
          </a:p>
        </p:txBody>
      </p:sp>
      <p:sp>
        <p:nvSpPr>
          <p:cNvPr id="11" name="Shape 9"/>
          <p:cNvSpPr/>
          <p:nvPr/>
        </p:nvSpPr>
        <p:spPr>
          <a:xfrm>
            <a:off x="2560320" y="1673352"/>
            <a:ext cx="5029200" cy="347472"/>
          </a:xfrm>
          <a:prstGeom prst="rect">
            <a:avLst/>
          </a:prstGeom>
          <a:solidFill>
            <a:srgbClr val="E2E8F0"/>
          </a:solidFill>
          <a:ln w="12700">
            <a:solidFill>
              <a:srgbClr val="E2E8F0"/>
            </a:solidFill>
            <a:prstDash val="solid"/>
          </a:ln>
        </p:spPr>
        <p:txBody>
          <a:bodyPr/>
          <a:lstStyle/>
          <a:p>
            <a:endParaRPr lang="en-US"/>
          </a:p>
        </p:txBody>
      </p:sp>
      <p:sp>
        <p:nvSpPr>
          <p:cNvPr id="12" name="Shape 10"/>
          <p:cNvSpPr/>
          <p:nvPr/>
        </p:nvSpPr>
        <p:spPr>
          <a:xfrm>
            <a:off x="2560320" y="1673352"/>
            <a:ext cx="4224528" cy="347472"/>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2606040" y="1673352"/>
            <a:ext cx="4224528" cy="347472"/>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λ = 0.84</a:t>
            </a:r>
            <a:endParaRPr lang="en-US" sz="1100" dirty="0"/>
          </a:p>
        </p:txBody>
      </p:sp>
      <p:sp>
        <p:nvSpPr>
          <p:cNvPr id="14" name="Text 12"/>
          <p:cNvSpPr/>
          <p:nvPr/>
        </p:nvSpPr>
        <p:spPr>
          <a:xfrm>
            <a:off x="7680960" y="1600200"/>
            <a:ext cx="137160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Excellent — Primary Anchor</a:t>
            </a:r>
            <a:endParaRPr lang="en-US" sz="900" dirty="0"/>
          </a:p>
        </p:txBody>
      </p:sp>
      <p:sp>
        <p:nvSpPr>
          <p:cNvPr id="15" name="Text 13"/>
          <p:cNvSpPr/>
          <p:nvPr/>
        </p:nvSpPr>
        <p:spPr>
          <a:xfrm>
            <a:off x="365760" y="2194560"/>
            <a:ext cx="2194560" cy="50292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Social Support</a:t>
            </a:r>
            <a:endParaRPr lang="en-US" sz="1200" dirty="0"/>
          </a:p>
        </p:txBody>
      </p:sp>
      <p:sp>
        <p:nvSpPr>
          <p:cNvPr id="16" name="Shape 14"/>
          <p:cNvSpPr/>
          <p:nvPr/>
        </p:nvSpPr>
        <p:spPr>
          <a:xfrm>
            <a:off x="2560320" y="2267712"/>
            <a:ext cx="5029200" cy="347472"/>
          </a:xfrm>
          <a:prstGeom prst="rect">
            <a:avLst/>
          </a:prstGeom>
          <a:solidFill>
            <a:srgbClr val="E2E8F0"/>
          </a:solidFill>
          <a:ln w="12700">
            <a:solidFill>
              <a:srgbClr val="E2E8F0"/>
            </a:solidFill>
            <a:prstDash val="solid"/>
          </a:ln>
        </p:spPr>
        <p:txBody>
          <a:bodyPr/>
          <a:lstStyle/>
          <a:p>
            <a:endParaRPr lang="en-US"/>
          </a:p>
        </p:txBody>
      </p:sp>
      <p:sp>
        <p:nvSpPr>
          <p:cNvPr id="17" name="Shape 15"/>
          <p:cNvSpPr/>
          <p:nvPr/>
        </p:nvSpPr>
        <p:spPr>
          <a:xfrm>
            <a:off x="2560320" y="2267712"/>
            <a:ext cx="3621024" cy="347472"/>
          </a:xfrm>
          <a:prstGeom prst="rect">
            <a:avLst/>
          </a:prstGeom>
          <a:solidFill>
            <a:srgbClr val="02A4B0"/>
          </a:solidFill>
          <a:ln w="12700">
            <a:solidFill>
              <a:srgbClr val="02A4B0"/>
            </a:solidFill>
            <a:prstDash val="solid"/>
          </a:ln>
        </p:spPr>
        <p:txBody>
          <a:bodyPr/>
          <a:lstStyle/>
          <a:p>
            <a:endParaRPr lang="en-US"/>
          </a:p>
        </p:txBody>
      </p:sp>
      <p:sp>
        <p:nvSpPr>
          <p:cNvPr id="18" name="Text 16"/>
          <p:cNvSpPr/>
          <p:nvPr/>
        </p:nvSpPr>
        <p:spPr>
          <a:xfrm>
            <a:off x="2606040" y="2267712"/>
            <a:ext cx="3621024" cy="347472"/>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λ = 0.72</a:t>
            </a:r>
            <a:endParaRPr lang="en-US" sz="1100" dirty="0"/>
          </a:p>
        </p:txBody>
      </p:sp>
      <p:sp>
        <p:nvSpPr>
          <p:cNvPr id="19" name="Text 17"/>
          <p:cNvSpPr/>
          <p:nvPr/>
        </p:nvSpPr>
        <p:spPr>
          <a:xfrm>
            <a:off x="7680960" y="2194560"/>
            <a:ext cx="137160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Excellent — Secondary Anchor</a:t>
            </a:r>
            <a:endParaRPr lang="en-US" sz="900" dirty="0"/>
          </a:p>
        </p:txBody>
      </p:sp>
      <p:sp>
        <p:nvSpPr>
          <p:cNvPr id="20" name="Text 18"/>
          <p:cNvSpPr/>
          <p:nvPr/>
        </p:nvSpPr>
        <p:spPr>
          <a:xfrm>
            <a:off x="365760" y="2788920"/>
            <a:ext cx="2194560" cy="50292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Employment Rate</a:t>
            </a:r>
            <a:endParaRPr lang="en-US" sz="1200" dirty="0"/>
          </a:p>
        </p:txBody>
      </p:sp>
      <p:sp>
        <p:nvSpPr>
          <p:cNvPr id="21" name="Shape 19"/>
          <p:cNvSpPr/>
          <p:nvPr/>
        </p:nvSpPr>
        <p:spPr>
          <a:xfrm>
            <a:off x="2560320" y="2862072"/>
            <a:ext cx="5029200" cy="347472"/>
          </a:xfrm>
          <a:prstGeom prst="rect">
            <a:avLst/>
          </a:prstGeom>
          <a:solidFill>
            <a:srgbClr val="E2E8F0"/>
          </a:solidFill>
          <a:ln w="12700">
            <a:solidFill>
              <a:srgbClr val="E2E8F0"/>
            </a:solidFill>
            <a:prstDash val="solid"/>
          </a:ln>
        </p:spPr>
        <p:txBody>
          <a:bodyPr/>
          <a:lstStyle/>
          <a:p>
            <a:endParaRPr lang="en-US"/>
          </a:p>
        </p:txBody>
      </p:sp>
      <p:sp>
        <p:nvSpPr>
          <p:cNvPr id="22" name="Shape 20"/>
          <p:cNvSpPr/>
          <p:nvPr/>
        </p:nvSpPr>
        <p:spPr>
          <a:xfrm>
            <a:off x="2560320" y="2862072"/>
            <a:ext cx="2916936" cy="347472"/>
          </a:xfrm>
          <a:prstGeom prst="rect">
            <a:avLst/>
          </a:prstGeom>
          <a:solidFill>
            <a:srgbClr val="5B8DB8"/>
          </a:solidFill>
          <a:ln w="12700">
            <a:solidFill>
              <a:srgbClr val="5B8DB8"/>
            </a:solidFill>
            <a:prstDash val="solid"/>
          </a:ln>
        </p:spPr>
        <p:txBody>
          <a:bodyPr/>
          <a:lstStyle/>
          <a:p>
            <a:endParaRPr lang="en-US"/>
          </a:p>
        </p:txBody>
      </p:sp>
      <p:sp>
        <p:nvSpPr>
          <p:cNvPr id="23" name="Text 21"/>
          <p:cNvSpPr/>
          <p:nvPr/>
        </p:nvSpPr>
        <p:spPr>
          <a:xfrm>
            <a:off x="2606040" y="2862072"/>
            <a:ext cx="2916936" cy="347472"/>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λ = 0.58</a:t>
            </a:r>
            <a:endParaRPr lang="en-US" sz="1100" dirty="0"/>
          </a:p>
        </p:txBody>
      </p:sp>
      <p:sp>
        <p:nvSpPr>
          <p:cNvPr id="24" name="Text 22"/>
          <p:cNvSpPr/>
          <p:nvPr/>
        </p:nvSpPr>
        <p:spPr>
          <a:xfrm>
            <a:off x="7680960" y="2788920"/>
            <a:ext cx="137160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Strong</a:t>
            </a:r>
            <a:endParaRPr lang="en-US" sz="900" dirty="0"/>
          </a:p>
        </p:txBody>
      </p:sp>
      <p:sp>
        <p:nvSpPr>
          <p:cNvPr id="25" name="Text 23"/>
          <p:cNvSpPr/>
          <p:nvPr/>
        </p:nvSpPr>
        <p:spPr>
          <a:xfrm>
            <a:off x="365760" y="3383280"/>
            <a:ext cx="2194560" cy="50292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GDP per Capita</a:t>
            </a:r>
            <a:endParaRPr lang="en-US" sz="1200" dirty="0"/>
          </a:p>
        </p:txBody>
      </p:sp>
      <p:sp>
        <p:nvSpPr>
          <p:cNvPr id="26" name="Shape 24"/>
          <p:cNvSpPr/>
          <p:nvPr/>
        </p:nvSpPr>
        <p:spPr>
          <a:xfrm>
            <a:off x="2560320" y="3456432"/>
            <a:ext cx="5029200" cy="347472"/>
          </a:xfrm>
          <a:prstGeom prst="rect">
            <a:avLst/>
          </a:prstGeom>
          <a:solidFill>
            <a:srgbClr val="E2E8F0"/>
          </a:solidFill>
          <a:ln w="12700">
            <a:solidFill>
              <a:srgbClr val="E2E8F0"/>
            </a:solidFill>
            <a:prstDash val="solid"/>
          </a:ln>
        </p:spPr>
        <p:txBody>
          <a:bodyPr/>
          <a:lstStyle/>
          <a:p>
            <a:endParaRPr lang="en-US"/>
          </a:p>
        </p:txBody>
      </p:sp>
      <p:sp>
        <p:nvSpPr>
          <p:cNvPr id="27" name="Shape 25"/>
          <p:cNvSpPr/>
          <p:nvPr/>
        </p:nvSpPr>
        <p:spPr>
          <a:xfrm>
            <a:off x="2560320" y="3456432"/>
            <a:ext cx="2564892" cy="347472"/>
          </a:xfrm>
          <a:prstGeom prst="rect">
            <a:avLst/>
          </a:prstGeom>
          <a:solidFill>
            <a:srgbClr val="74B49B"/>
          </a:solidFill>
          <a:ln w="12700">
            <a:solidFill>
              <a:srgbClr val="74B49B"/>
            </a:solidFill>
            <a:prstDash val="solid"/>
          </a:ln>
        </p:spPr>
        <p:txBody>
          <a:bodyPr/>
          <a:lstStyle/>
          <a:p>
            <a:endParaRPr lang="en-US"/>
          </a:p>
        </p:txBody>
      </p:sp>
      <p:sp>
        <p:nvSpPr>
          <p:cNvPr id="28" name="Text 26"/>
          <p:cNvSpPr/>
          <p:nvPr/>
        </p:nvSpPr>
        <p:spPr>
          <a:xfrm>
            <a:off x="2606040" y="3456432"/>
            <a:ext cx="2564892" cy="347472"/>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λ = 0.51</a:t>
            </a:r>
            <a:endParaRPr lang="en-US" sz="1100" dirty="0"/>
          </a:p>
        </p:txBody>
      </p:sp>
      <p:sp>
        <p:nvSpPr>
          <p:cNvPr id="29" name="Text 27"/>
          <p:cNvSpPr/>
          <p:nvPr/>
        </p:nvSpPr>
        <p:spPr>
          <a:xfrm>
            <a:off x="7680960" y="3383280"/>
            <a:ext cx="137160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Strong</a:t>
            </a:r>
            <a:endParaRPr lang="en-US" sz="900" dirty="0"/>
          </a:p>
        </p:txBody>
      </p:sp>
      <p:sp>
        <p:nvSpPr>
          <p:cNvPr id="30" name="Text 28"/>
          <p:cNvSpPr/>
          <p:nvPr/>
        </p:nvSpPr>
        <p:spPr>
          <a:xfrm>
            <a:off x="365760" y="3977640"/>
            <a:ext cx="2194560" cy="50292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Housing Affordability</a:t>
            </a:r>
            <a:endParaRPr lang="en-US" sz="1200" dirty="0"/>
          </a:p>
        </p:txBody>
      </p:sp>
      <p:sp>
        <p:nvSpPr>
          <p:cNvPr id="31" name="Shape 29"/>
          <p:cNvSpPr/>
          <p:nvPr/>
        </p:nvSpPr>
        <p:spPr>
          <a:xfrm>
            <a:off x="2560320" y="4050792"/>
            <a:ext cx="5029200" cy="347472"/>
          </a:xfrm>
          <a:prstGeom prst="rect">
            <a:avLst/>
          </a:prstGeom>
          <a:solidFill>
            <a:srgbClr val="E2E8F0"/>
          </a:solidFill>
          <a:ln w="12700">
            <a:solidFill>
              <a:srgbClr val="E2E8F0"/>
            </a:solidFill>
            <a:prstDash val="solid"/>
          </a:ln>
        </p:spPr>
        <p:txBody>
          <a:bodyPr/>
          <a:lstStyle/>
          <a:p>
            <a:endParaRPr lang="en-US"/>
          </a:p>
        </p:txBody>
      </p:sp>
      <p:sp>
        <p:nvSpPr>
          <p:cNvPr id="32" name="Shape 30"/>
          <p:cNvSpPr/>
          <p:nvPr/>
        </p:nvSpPr>
        <p:spPr>
          <a:xfrm>
            <a:off x="2560320" y="4050792"/>
            <a:ext cx="1911096" cy="347472"/>
          </a:xfrm>
          <a:prstGeom prst="rect">
            <a:avLst/>
          </a:prstGeom>
          <a:solidFill>
            <a:srgbClr val="E8A838"/>
          </a:solidFill>
          <a:ln w="12700">
            <a:solidFill>
              <a:srgbClr val="E8A838"/>
            </a:solidFill>
            <a:prstDash val="solid"/>
          </a:ln>
        </p:spPr>
        <p:txBody>
          <a:bodyPr/>
          <a:lstStyle/>
          <a:p>
            <a:endParaRPr lang="en-US"/>
          </a:p>
        </p:txBody>
      </p:sp>
      <p:sp>
        <p:nvSpPr>
          <p:cNvPr id="33" name="Text 31"/>
          <p:cNvSpPr/>
          <p:nvPr/>
        </p:nvSpPr>
        <p:spPr>
          <a:xfrm>
            <a:off x="2606040" y="4050792"/>
            <a:ext cx="1911096" cy="347472"/>
          </a:xfrm>
          <a:prstGeom prst="rect">
            <a:avLst/>
          </a:prstGeom>
          <a:noFill/>
          <a:ln/>
        </p:spPr>
        <p:txBody>
          <a:bodyPr wrap="square" lIns="0" tIns="0" rIns="0" bIns="0"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λ = 0.38</a:t>
            </a:r>
            <a:endParaRPr lang="en-US" sz="1100" dirty="0"/>
          </a:p>
        </p:txBody>
      </p:sp>
      <p:sp>
        <p:nvSpPr>
          <p:cNvPr id="34" name="Text 32"/>
          <p:cNvSpPr/>
          <p:nvPr/>
        </p:nvSpPr>
        <p:spPr>
          <a:xfrm>
            <a:off x="7680960" y="3977640"/>
            <a:ext cx="1371600" cy="5029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Moderate — Weakest Link</a:t>
            </a:r>
            <a:endParaRPr lang="en-US" sz="900" dirty="0"/>
          </a:p>
        </p:txBody>
      </p:sp>
      <p:sp>
        <p:nvSpPr>
          <p:cNvPr id="35" name="Shape 33"/>
          <p:cNvSpPr/>
          <p:nvPr/>
        </p:nvSpPr>
        <p:spPr>
          <a:xfrm>
            <a:off x="5074920" y="1581912"/>
            <a:ext cx="0" cy="2971800"/>
          </a:xfrm>
          <a:prstGeom prst="line">
            <a:avLst/>
          </a:prstGeom>
          <a:noFill/>
          <a:ln w="12700">
            <a:solidFill>
              <a:srgbClr val="E8A838"/>
            </a:solidFill>
            <a:prstDash val="dash"/>
          </a:ln>
        </p:spPr>
        <p:txBody>
          <a:bodyPr/>
          <a:lstStyle/>
          <a:p>
            <a:endParaRPr lang="en-US"/>
          </a:p>
        </p:txBody>
      </p:sp>
      <p:sp>
        <p:nvSpPr>
          <p:cNvPr id="36" name="Text 34"/>
          <p:cNvSpPr/>
          <p:nvPr/>
        </p:nvSpPr>
        <p:spPr>
          <a:xfrm>
            <a:off x="5120640" y="1581912"/>
            <a:ext cx="640080" cy="365760"/>
          </a:xfrm>
          <a:prstGeom prst="rect">
            <a:avLst/>
          </a:prstGeom>
          <a:noFill/>
          <a:ln/>
        </p:spPr>
        <p:txBody>
          <a:bodyPr wrap="square" lIns="0" tIns="0" rIns="0" bIns="0" rtlCol="0" anchor="ctr"/>
          <a:lstStyle/>
          <a:p>
            <a:pPr marL="0" indent="0">
              <a:buNone/>
            </a:pPr>
            <a:r>
              <a:rPr lang="en-US" sz="800" dirty="0">
                <a:solidFill>
                  <a:srgbClr val="E8A838"/>
                </a:solidFill>
                <a:latin typeface="Calibri" pitchFamily="34" charset="0"/>
                <a:ea typeface="Calibri" pitchFamily="34" charset="-122"/>
                <a:cs typeface="Calibri" pitchFamily="34" charset="-120"/>
              </a:rPr>
              <a:t>Threshold</a:t>
            </a:r>
            <a:endParaRPr lang="en-US" sz="800" dirty="0"/>
          </a:p>
          <a:p>
            <a:pPr marL="0" indent="0">
              <a:buNone/>
            </a:pPr>
            <a:r>
              <a:rPr lang="en-US" sz="800" dirty="0">
                <a:solidFill>
                  <a:srgbClr val="E8A838"/>
                </a:solidFill>
                <a:latin typeface="Calibri" pitchFamily="34" charset="0"/>
                <a:ea typeface="Calibri" pitchFamily="34" charset="-122"/>
                <a:cs typeface="Calibri" pitchFamily="34" charset="-120"/>
              </a:rPr>
              <a:t>0.50</a:t>
            </a:r>
            <a:endParaRPr lang="en-US" sz="800" dirty="0"/>
          </a:p>
        </p:txBody>
      </p:sp>
      <p:sp>
        <p:nvSpPr>
          <p:cNvPr id="37" name="Shape 35"/>
          <p:cNvSpPr/>
          <p:nvPr/>
        </p:nvSpPr>
        <p:spPr>
          <a:xfrm>
            <a:off x="365760" y="4572000"/>
            <a:ext cx="8412480" cy="347472"/>
          </a:xfrm>
          <a:prstGeom prst="rect">
            <a:avLst/>
          </a:prstGeom>
          <a:solidFill>
            <a:srgbClr val="1B2A4A"/>
          </a:solidFill>
          <a:ln w="12700">
            <a:solidFill>
              <a:srgbClr val="1B2A4A"/>
            </a:solidFill>
            <a:prstDash val="solid"/>
          </a:ln>
        </p:spPr>
        <p:txBody>
          <a:bodyPr/>
          <a:lstStyle/>
          <a:p>
            <a:endParaRPr lang="en-US"/>
          </a:p>
        </p:txBody>
      </p:sp>
      <p:sp>
        <p:nvSpPr>
          <p:cNvPr id="38" name="Text 36"/>
          <p:cNvSpPr/>
          <p:nvPr/>
        </p:nvSpPr>
        <p:spPr>
          <a:xfrm>
            <a:off x="457200" y="4572000"/>
            <a:ext cx="8229600" cy="347472"/>
          </a:xfrm>
          <a:prstGeom prst="rect">
            <a:avLst/>
          </a:prstGeom>
          <a:noFill/>
          <a:ln/>
        </p:spPr>
        <p:txBody>
          <a:bodyPr wrap="square" lIns="0" tIns="0" rIns="0" bIns="0" rtlCol="0" anchor="ctr"/>
          <a:lstStyle/>
          <a:p>
            <a:pPr marL="0" indent="0">
              <a:buNone/>
            </a:pPr>
            <a:r>
              <a:rPr lang="en-US" sz="1000" i="1" dirty="0">
                <a:solidFill>
                  <a:srgbClr val="FFFFFF"/>
                </a:solidFill>
                <a:latin typeface="Calibri" pitchFamily="34" charset="0"/>
                <a:ea typeface="Calibri" pitchFamily="34" charset="-122"/>
                <a:cs typeface="Calibri" pitchFamily="34" charset="-120"/>
              </a:rPr>
              <a:t>Wealth, employment, and social capital are mathematically intertwined — they are all symptoms of one underlying 'Quality of Life' engine.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96012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28600" y="91440"/>
            <a:ext cx="77724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Policy Implications</a:t>
            </a:r>
            <a:endParaRPr lang="en-US" sz="2200" dirty="0"/>
          </a:p>
        </p:txBody>
      </p:sp>
      <p:sp>
        <p:nvSpPr>
          <p:cNvPr id="5" name="Text 3"/>
          <p:cNvSpPr/>
          <p:nvPr/>
        </p:nvSpPr>
        <p:spPr>
          <a:xfrm>
            <a:off x="228600" y="594360"/>
            <a:ext cx="7772400" cy="320040"/>
          </a:xfrm>
          <a:prstGeom prst="rect">
            <a:avLst/>
          </a:prstGeom>
          <a:noFill/>
          <a:ln/>
        </p:spPr>
        <p:txBody>
          <a:bodyPr wrap="square" lIns="0" tIns="0" rIns="0" bIns="0" rtlCol="0" anchor="ctr"/>
          <a:lstStyle/>
          <a:p>
            <a:pPr marL="0" indent="0" algn="l">
              <a:buNone/>
            </a:pPr>
            <a:r>
              <a:rPr lang="en-US" sz="1200" i="1" dirty="0">
                <a:solidFill>
                  <a:srgbClr val="E2E8F0"/>
                </a:solidFill>
                <a:latin typeface="Calibri" pitchFamily="34" charset="0"/>
                <a:ea typeface="Calibri" pitchFamily="34" charset="-122"/>
                <a:cs typeface="Calibri" pitchFamily="34" charset="-120"/>
              </a:rPr>
              <a:t>From data to action — the case for Well-Being Budgeting</a:t>
            </a:r>
            <a:endParaRPr lang="en-US" sz="1200" dirty="0"/>
          </a:p>
        </p:txBody>
      </p:sp>
      <p:sp>
        <p:nvSpPr>
          <p:cNvPr id="6" name="Text 4"/>
          <p:cNvSpPr/>
          <p:nvPr/>
        </p:nvSpPr>
        <p:spPr>
          <a:xfrm>
            <a:off x="8686800" y="182880"/>
            <a:ext cx="365760" cy="365760"/>
          </a:xfrm>
          <a:prstGeom prst="rect">
            <a:avLst/>
          </a:prstGeom>
          <a:noFill/>
          <a:ln/>
        </p:spPr>
        <p:txBody>
          <a:bodyPr wrap="square" lIns="0" tIns="0" rIns="0" bIns="0" rtlCol="0" anchor="ctr"/>
          <a:lstStyle/>
          <a:p>
            <a:pPr marL="0" indent="0" algn="ctr">
              <a:buNone/>
            </a:pPr>
            <a:r>
              <a:rPr lang="en-US" sz="1400" b="1" dirty="0">
                <a:solidFill>
                  <a:srgbClr val="E8A838"/>
                </a:solidFill>
                <a:latin typeface="Calibri" pitchFamily="34" charset="0"/>
                <a:ea typeface="Calibri" pitchFamily="34" charset="-122"/>
                <a:cs typeface="Calibri" pitchFamily="34" charset="-120"/>
              </a:rPr>
              <a:t>9</a:t>
            </a:r>
            <a:endParaRPr lang="en-US" sz="1400" dirty="0"/>
          </a:p>
        </p:txBody>
      </p:sp>
      <p:sp>
        <p:nvSpPr>
          <p:cNvPr id="7" name="Shape 5"/>
          <p:cNvSpPr/>
          <p:nvPr/>
        </p:nvSpPr>
        <p:spPr>
          <a:xfrm>
            <a:off x="0" y="4956048"/>
            <a:ext cx="9144000" cy="182880"/>
          </a:xfrm>
          <a:prstGeom prst="rect">
            <a:avLst/>
          </a:prstGeom>
          <a:solidFill>
            <a:srgbClr val="1B2A4A"/>
          </a:solidFill>
          <a:ln w="12700">
            <a:solidFill>
              <a:srgbClr val="1B2A4A"/>
            </a:solidFill>
            <a:prstDash val="solid"/>
          </a:ln>
        </p:spPr>
        <p:txBody>
          <a:bodyPr/>
          <a:lstStyle/>
          <a:p>
            <a:endParaRPr lang="en-US"/>
          </a:p>
        </p:txBody>
      </p:sp>
      <p:sp>
        <p:nvSpPr>
          <p:cNvPr id="8" name="Text 6"/>
          <p:cNvSpPr/>
          <p:nvPr/>
        </p:nvSpPr>
        <p:spPr>
          <a:xfrm>
            <a:off x="182880" y="4956048"/>
            <a:ext cx="8778240" cy="182880"/>
          </a:xfrm>
          <a:prstGeom prst="rect">
            <a:avLst/>
          </a:prstGeom>
          <a:noFill/>
          <a:ln/>
        </p:spPr>
        <p:txBody>
          <a:bodyPr wrap="square" lIns="0" tIns="0" rIns="0" bIns="0" rtlCol="0" anchor="ctr"/>
          <a:lstStyle/>
          <a:p>
            <a:pPr marL="0" indent="0" algn="l">
              <a:buNone/>
            </a:pPr>
            <a:r>
              <a:rPr lang="en-US" sz="800" dirty="0">
                <a:solidFill>
                  <a:srgbClr val="E2E8F0"/>
                </a:solidFill>
                <a:latin typeface="Calibri" pitchFamily="34" charset="0"/>
                <a:ea typeface="Calibri" pitchFamily="34" charset="-122"/>
                <a:cs typeface="Calibri" pitchFamily="34" charset="-120"/>
              </a:rPr>
              <a:t>The Geography of Happiness  |  Williams, J.</a:t>
            </a:r>
            <a:endParaRPr lang="en-US" sz="800" dirty="0"/>
          </a:p>
        </p:txBody>
      </p:sp>
      <p:sp>
        <p:nvSpPr>
          <p:cNvPr id="9" name="Shape 7"/>
          <p:cNvSpPr/>
          <p:nvPr/>
        </p:nvSpPr>
        <p:spPr>
          <a:xfrm>
            <a:off x="320040" y="1143000"/>
            <a:ext cx="3931920" cy="1737360"/>
          </a:xfrm>
          <a:prstGeom prst="rect">
            <a:avLst/>
          </a:prstGeom>
          <a:solidFill>
            <a:srgbClr val="FFFFFF"/>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10" name="Shape 8"/>
          <p:cNvSpPr/>
          <p:nvPr/>
        </p:nvSpPr>
        <p:spPr>
          <a:xfrm>
            <a:off x="320040" y="1143000"/>
            <a:ext cx="3931920" cy="45720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11480" y="1143000"/>
            <a:ext cx="37490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01  Invest in Social Infrastructure</a:t>
            </a:r>
            <a:endParaRPr lang="en-US" sz="1200" dirty="0"/>
          </a:p>
        </p:txBody>
      </p:sp>
      <p:sp>
        <p:nvSpPr>
          <p:cNvPr id="12" name="Text 10"/>
          <p:cNvSpPr/>
          <p:nvPr/>
        </p:nvSpPr>
        <p:spPr>
          <a:xfrm>
            <a:off x="429768" y="1645920"/>
            <a:ext cx="3703320" cy="11887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Social support is the most powerful non-economic predictor of happiness (β = 0.054, p&lt;.001). Programs that build community trust yield outsized returns on well-being.</a:t>
            </a:r>
            <a:endParaRPr lang="en-US" sz="1000" dirty="0"/>
          </a:p>
        </p:txBody>
      </p:sp>
      <p:sp>
        <p:nvSpPr>
          <p:cNvPr id="13" name="Shape 11"/>
          <p:cNvSpPr/>
          <p:nvPr/>
        </p:nvSpPr>
        <p:spPr>
          <a:xfrm>
            <a:off x="4617720" y="1143000"/>
            <a:ext cx="3931920" cy="1737360"/>
          </a:xfrm>
          <a:prstGeom prst="rect">
            <a:avLst/>
          </a:prstGeom>
          <a:solidFill>
            <a:srgbClr val="FFFFFF"/>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14" name="Shape 12"/>
          <p:cNvSpPr/>
          <p:nvPr/>
        </p:nvSpPr>
        <p:spPr>
          <a:xfrm>
            <a:off x="4617720" y="1143000"/>
            <a:ext cx="3931920" cy="457200"/>
          </a:xfrm>
          <a:prstGeom prst="rect">
            <a:avLst/>
          </a:prstGeom>
          <a:solidFill>
            <a:srgbClr val="1B2A4A"/>
          </a:solidFill>
          <a:ln w="12700">
            <a:solidFill>
              <a:srgbClr val="1B2A4A"/>
            </a:solidFill>
            <a:prstDash val="solid"/>
          </a:ln>
        </p:spPr>
        <p:txBody>
          <a:bodyPr/>
          <a:lstStyle/>
          <a:p>
            <a:endParaRPr lang="en-US"/>
          </a:p>
        </p:txBody>
      </p:sp>
      <p:sp>
        <p:nvSpPr>
          <p:cNvPr id="15" name="Text 13"/>
          <p:cNvSpPr/>
          <p:nvPr/>
        </p:nvSpPr>
        <p:spPr>
          <a:xfrm>
            <a:off x="4709160" y="1143000"/>
            <a:ext cx="37490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Target Healthcare Spending</a:t>
            </a:r>
            <a:endParaRPr lang="en-US" sz="1200" dirty="0"/>
          </a:p>
        </p:txBody>
      </p:sp>
      <p:sp>
        <p:nvSpPr>
          <p:cNvPr id="16" name="Text 14"/>
          <p:cNvSpPr/>
          <p:nvPr/>
        </p:nvSpPr>
        <p:spPr>
          <a:xfrm>
            <a:off x="4727448" y="1645920"/>
            <a:ext cx="3703320" cy="11887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Healthcare investment provides a unique life expectancy benefit beyond economic growth (B = 0.15). Economic development alone does not substitute for direct health programs.</a:t>
            </a:r>
            <a:endParaRPr lang="en-US" sz="1000" dirty="0"/>
          </a:p>
        </p:txBody>
      </p:sp>
      <p:sp>
        <p:nvSpPr>
          <p:cNvPr id="17" name="Shape 15"/>
          <p:cNvSpPr/>
          <p:nvPr/>
        </p:nvSpPr>
        <p:spPr>
          <a:xfrm>
            <a:off x="320040" y="3017520"/>
            <a:ext cx="3931920" cy="1737360"/>
          </a:xfrm>
          <a:prstGeom prst="rect">
            <a:avLst/>
          </a:prstGeom>
          <a:solidFill>
            <a:srgbClr val="FFFFFF"/>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18" name="Shape 16"/>
          <p:cNvSpPr/>
          <p:nvPr/>
        </p:nvSpPr>
        <p:spPr>
          <a:xfrm>
            <a:off x="320040" y="3017520"/>
            <a:ext cx="3931920" cy="457200"/>
          </a:xfrm>
          <a:prstGeom prst="rect">
            <a:avLst/>
          </a:prstGeom>
          <a:solidFill>
            <a:srgbClr val="5B8DB8"/>
          </a:solidFill>
          <a:ln w="12700">
            <a:solidFill>
              <a:srgbClr val="5B8DB8"/>
            </a:solidFill>
            <a:prstDash val="solid"/>
          </a:ln>
        </p:spPr>
        <p:txBody>
          <a:bodyPr/>
          <a:lstStyle/>
          <a:p>
            <a:endParaRPr lang="en-US"/>
          </a:p>
        </p:txBody>
      </p:sp>
      <p:sp>
        <p:nvSpPr>
          <p:cNvPr id="19" name="Text 17"/>
          <p:cNvSpPr/>
          <p:nvPr/>
        </p:nvSpPr>
        <p:spPr>
          <a:xfrm>
            <a:off x="411480" y="3017520"/>
            <a:ext cx="37490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Address Structural Barriers for Women</a:t>
            </a:r>
            <a:endParaRPr lang="en-US" sz="1200" dirty="0"/>
          </a:p>
        </p:txBody>
      </p:sp>
      <p:sp>
        <p:nvSpPr>
          <p:cNvPr id="20" name="Text 18"/>
          <p:cNvSpPr/>
          <p:nvPr/>
        </p:nvSpPr>
        <p:spPr>
          <a:xfrm>
            <a:off x="429768" y="3520440"/>
            <a:ext cx="3703320" cy="11887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The gender optimism gap widens with education, peaking at the Junior College level. This suggests that advanced degrees alone do not overcome structural barriers — targeted workplace equity and pay gap policies are needed alongside educational investment.</a:t>
            </a:r>
            <a:endParaRPr lang="en-US" sz="1000" dirty="0"/>
          </a:p>
        </p:txBody>
      </p:sp>
      <p:sp>
        <p:nvSpPr>
          <p:cNvPr id="21" name="Shape 19"/>
          <p:cNvSpPr/>
          <p:nvPr/>
        </p:nvSpPr>
        <p:spPr>
          <a:xfrm>
            <a:off x="4617720" y="3017520"/>
            <a:ext cx="3931920" cy="1737360"/>
          </a:xfrm>
          <a:prstGeom prst="rect">
            <a:avLst/>
          </a:prstGeom>
          <a:solidFill>
            <a:srgbClr val="FFFFFF"/>
          </a:solidFill>
          <a:ln w="12700">
            <a:solidFill>
              <a:srgbClr val="E2E8F0"/>
            </a:solidFill>
            <a:prstDash val="solid"/>
          </a:ln>
          <a:effectLst>
            <a:outerShdw blurRad="63500" dist="25400" dir="8100000" algn="bl" rotWithShape="0">
              <a:srgbClr val="000000">
                <a:alpha val="10000"/>
              </a:srgbClr>
            </a:outerShdw>
          </a:effectLst>
        </p:spPr>
        <p:txBody>
          <a:bodyPr/>
          <a:lstStyle/>
          <a:p>
            <a:endParaRPr lang="en-US"/>
          </a:p>
        </p:txBody>
      </p:sp>
      <p:sp>
        <p:nvSpPr>
          <p:cNvPr id="22" name="Shape 20"/>
          <p:cNvSpPr/>
          <p:nvPr/>
        </p:nvSpPr>
        <p:spPr>
          <a:xfrm>
            <a:off x="4617720" y="3017520"/>
            <a:ext cx="3931920" cy="457200"/>
          </a:xfrm>
          <a:prstGeom prst="rect">
            <a:avLst/>
          </a:prstGeom>
          <a:solidFill>
            <a:srgbClr val="E8A838"/>
          </a:solidFill>
          <a:ln w="12700">
            <a:solidFill>
              <a:srgbClr val="E8A838"/>
            </a:solidFill>
            <a:prstDash val="solid"/>
          </a:ln>
        </p:spPr>
        <p:txBody>
          <a:bodyPr/>
          <a:lstStyle/>
          <a:p>
            <a:endParaRPr lang="en-US"/>
          </a:p>
        </p:txBody>
      </p:sp>
      <p:sp>
        <p:nvSpPr>
          <p:cNvPr id="23" name="Text 21"/>
          <p:cNvSpPr/>
          <p:nvPr/>
        </p:nvSpPr>
        <p:spPr>
          <a:xfrm>
            <a:off x="4709160" y="3017520"/>
            <a:ext cx="374904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Adopt Holistic Policy Design</a:t>
            </a:r>
            <a:endParaRPr lang="en-US" sz="1200" dirty="0"/>
          </a:p>
        </p:txBody>
      </p:sp>
      <p:sp>
        <p:nvSpPr>
          <p:cNvPr id="24" name="Text 22"/>
          <p:cNvSpPr/>
          <p:nvPr/>
        </p:nvSpPr>
        <p:spPr>
          <a:xfrm>
            <a:off x="4727448" y="3520440"/>
            <a:ext cx="3703320" cy="11887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Because QoL dimensions are mathematically intertwined (Batch 6), siloed GDP-only policies are inefficient. Improvements in social capital yield dividends across all indicators.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0" y="73152"/>
            <a:ext cx="109728" cy="5070348"/>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274320" y="228600"/>
            <a:ext cx="8503920" cy="502920"/>
          </a:xfrm>
          <a:prstGeom prst="rect">
            <a:avLst/>
          </a:prstGeom>
          <a:noFill/>
          <a:ln/>
        </p:spPr>
        <p:txBody>
          <a:bodyPr wrap="square" lIns="0" tIns="0" rIns="0" bIns="0" rtlCol="0" anchor="ctr"/>
          <a:lstStyle/>
          <a:p>
            <a:pPr marL="0" indent="0" algn="l">
              <a:buNone/>
            </a:pPr>
            <a:r>
              <a:rPr lang="en-US" sz="2800" b="1" dirty="0">
                <a:solidFill>
                  <a:srgbClr val="E8A838"/>
                </a:solidFill>
                <a:latin typeface="Calibri" pitchFamily="34" charset="0"/>
                <a:ea typeface="Calibri" pitchFamily="34" charset="-122"/>
                <a:cs typeface="Calibri" pitchFamily="34" charset="-120"/>
              </a:rPr>
              <a:t>Conclusion</a:t>
            </a:r>
            <a:endParaRPr lang="en-US" sz="2800" dirty="0"/>
          </a:p>
        </p:txBody>
      </p:sp>
      <p:sp>
        <p:nvSpPr>
          <p:cNvPr id="5" name="Text 3"/>
          <p:cNvSpPr/>
          <p:nvPr/>
        </p:nvSpPr>
        <p:spPr>
          <a:xfrm>
            <a:off x="274320" y="822960"/>
            <a:ext cx="8503920" cy="640080"/>
          </a:xfrm>
          <a:prstGeom prst="rect">
            <a:avLst/>
          </a:prstGeom>
          <a:noFill/>
          <a:ln/>
        </p:spPr>
        <p:txBody>
          <a:bodyPr wrap="square" lIns="0" tIns="0" rIns="0" bIns="0" rtlCol="0" anchor="ctr"/>
          <a:lstStyle/>
          <a:p>
            <a:pPr marL="0" indent="0" algn="l">
              <a:buNone/>
            </a:pPr>
            <a:r>
              <a:rPr lang="en-US" sz="1500" i="1" dirty="0">
                <a:solidFill>
                  <a:srgbClr val="FFFFFF"/>
                </a:solidFill>
                <a:latin typeface="Calibri" pitchFamily="34" charset="0"/>
                <a:ea typeface="Calibri" pitchFamily="34" charset="-122"/>
                <a:cs typeface="Calibri" pitchFamily="34" charset="-120"/>
              </a:rPr>
              <a:t>Well-being is a nested phenomenon — shaped by education, income, social support, and regional context working together.</a:t>
            </a:r>
            <a:endParaRPr lang="en-US" sz="1500" dirty="0"/>
          </a:p>
        </p:txBody>
      </p:sp>
      <p:sp>
        <p:nvSpPr>
          <p:cNvPr id="6" name="Shape 4"/>
          <p:cNvSpPr/>
          <p:nvPr/>
        </p:nvSpPr>
        <p:spPr>
          <a:xfrm>
            <a:off x="274320" y="1673352"/>
            <a:ext cx="292608" cy="292608"/>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74320" y="16733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658368" y="1600200"/>
            <a:ext cx="813816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Gender shapes optimism, and the gap widens with education — structural barriers persist even at the Graduate level (Batches 1–2)</a:t>
            </a:r>
            <a:endParaRPr lang="en-US" sz="1200" dirty="0"/>
          </a:p>
        </p:txBody>
      </p:sp>
      <p:sp>
        <p:nvSpPr>
          <p:cNvPr id="9" name="Shape 7"/>
          <p:cNvSpPr/>
          <p:nvPr/>
        </p:nvSpPr>
        <p:spPr>
          <a:xfrm>
            <a:off x="274320" y="2240280"/>
            <a:ext cx="292608" cy="292608"/>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274320" y="224028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658368" y="2167128"/>
            <a:ext cx="813816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National wealth, education, and healthcare all independently drive life expectancy (Batch 3)</a:t>
            </a:r>
            <a:endParaRPr lang="en-US" sz="1200" dirty="0"/>
          </a:p>
        </p:txBody>
      </p:sp>
      <p:sp>
        <p:nvSpPr>
          <p:cNvPr id="12" name="Shape 10"/>
          <p:cNvSpPr/>
          <p:nvPr/>
        </p:nvSpPr>
        <p:spPr>
          <a:xfrm>
            <a:off x="274320" y="2807208"/>
            <a:ext cx="292608" cy="292608"/>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274320" y="28072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658368" y="2734056"/>
            <a:ext cx="813816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Income fully mediates the education → happiness relationship — 99.4% of the effect (Batch 4)</a:t>
            </a:r>
            <a:endParaRPr lang="en-US" sz="1200" dirty="0"/>
          </a:p>
        </p:txBody>
      </p:sp>
      <p:sp>
        <p:nvSpPr>
          <p:cNvPr id="15" name="Shape 13"/>
          <p:cNvSpPr/>
          <p:nvPr/>
        </p:nvSpPr>
        <p:spPr>
          <a:xfrm>
            <a:off x="274320" y="3374136"/>
            <a:ext cx="292608" cy="292608"/>
          </a:xfrm>
          <a:prstGeom prst="rect">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274320" y="337413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658368" y="3300984"/>
            <a:ext cx="813816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31% of global happiness variance is explained by regional geography alone (Batch 5)</a:t>
            </a:r>
            <a:endParaRPr lang="en-US" sz="1200" dirty="0"/>
          </a:p>
        </p:txBody>
      </p:sp>
      <p:sp>
        <p:nvSpPr>
          <p:cNvPr id="18" name="Shape 16"/>
          <p:cNvSpPr/>
          <p:nvPr/>
        </p:nvSpPr>
        <p:spPr>
          <a:xfrm>
            <a:off x="274320" y="3941064"/>
            <a:ext cx="292608" cy="292608"/>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274320" y="39410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658368" y="3867912"/>
            <a:ext cx="813816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QoL is a single latent engine: life satisfaction, social support, employment, and GDP all co-load (Batch 6)</a:t>
            </a:r>
            <a:endParaRPr lang="en-US" sz="1200" dirty="0"/>
          </a:p>
        </p:txBody>
      </p:sp>
      <p:sp>
        <p:nvSpPr>
          <p:cNvPr id="21" name="Shape 19"/>
          <p:cNvSpPr/>
          <p:nvPr/>
        </p:nvSpPr>
        <p:spPr>
          <a:xfrm>
            <a:off x="0" y="4754880"/>
            <a:ext cx="9144000" cy="384048"/>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274320" y="4754880"/>
            <a:ext cx="85953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Policy Recommendation: Adopt 'Well-Being Budgeting' — invest holistically in social programs, education, and healthcare together.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3804</Words>
  <Application>Microsoft Office PowerPoint</Application>
  <PresentationFormat>On-screen Show (16:9)</PresentationFormat>
  <Paragraphs>247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Geography of Happiness</dc:title>
  <dc:subject>PptxGenJS Presentation</dc:subject>
  <dc:creator>PptxGenJS</dc:creator>
  <cp:lastModifiedBy>John Williams</cp:lastModifiedBy>
  <cp:revision>3</cp:revision>
  <dcterms:created xsi:type="dcterms:W3CDTF">2026-04-05T00:40:37Z</dcterms:created>
  <dcterms:modified xsi:type="dcterms:W3CDTF">2026-04-06T02:20:25Z</dcterms:modified>
</cp:coreProperties>
</file>